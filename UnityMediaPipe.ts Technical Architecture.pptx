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Liter" charset="-122" pitchFamily="34"/>
      <p:regular r:id="rId19"/>
    </p:embeddedFont>
    <p:embeddedFont>
      <p:font typeface="Hedvig Letters Sans" charset="-122" pitchFamily="34"/>
      <p:regular r:id="rId20"/>
    </p:embeddedFont>
    <p:embeddedFont>
      <p:font typeface="Noto Sans SC" charset="-122" pitchFamily="34"/>
      <p:regular r:id="rId21"/>
    </p:embeddedFont>
    <p:embeddedFont>
      <p:font typeface="Mi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user-images.githubusercontent.com/76829403/218071912-ea45bf91-bf47-4c7f-8ec1-330837846bb7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5462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508000"/>
            <a:ext cx="101600" cy="812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609600"/>
            <a:ext cx="436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NTCC MUSIC APP UNITY SOLUTION™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2000" y="965200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7 of 9 | Technical Architecture Series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635250"/>
            <a:ext cx="1584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UnityMediaPipe.ts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4159250"/>
            <a:ext cx="2032000" cy="762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9" name="Text 6"/>
          <p:cNvSpPr/>
          <p:nvPr/>
        </p:nvSpPr>
        <p:spPr>
          <a:xfrm>
            <a:off x="508000" y="464185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Face Mesh Integration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8000" y="5454650"/>
            <a:ext cx="11531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Conductor Blink &amp; Beat Detection System for Church Worship Management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8000" y="7766050"/>
            <a:ext cx="15240000" cy="12700"/>
          </a:xfrm>
          <a:prstGeom prst="roundRect">
            <a:avLst>
              <a:gd name="adj" fmla="val 0"/>
            </a:avLst>
          </a:prstGeom>
          <a:solidFill>
            <a:srgbClr val="A9B4C2">
              <a:alpha val="3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58800" y="8115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96912" y="285899"/>
                </a:moveTo>
                <a:cubicBezTo>
                  <a:pt x="280467" y="257324"/>
                  <a:pt x="249585" y="238125"/>
                  <a:pt x="214313" y="238125"/>
                </a:cubicBezTo>
                <a:lnTo>
                  <a:pt x="166688" y="238125"/>
                </a:lnTo>
                <a:cubicBezTo>
                  <a:pt x="131415" y="238125"/>
                  <a:pt x="100533" y="257324"/>
                  <a:pt x="84088" y="285899"/>
                </a:cubicBezTo>
                <a:cubicBezTo>
                  <a:pt x="110282" y="315069"/>
                  <a:pt x="148233" y="333375"/>
                  <a:pt x="190500" y="333375"/>
                </a:cubicBezTo>
                <a:cubicBezTo>
                  <a:pt x="232767" y="333375"/>
                  <a:pt x="270718" y="314995"/>
                  <a:pt x="296912" y="285899"/>
                </a:cubicBezTo>
                <a:close/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190500" y="202406"/>
                </a:moveTo>
                <a:cubicBezTo>
                  <a:pt x="220071" y="202406"/>
                  <a:pt x="244078" y="178399"/>
                  <a:pt x="244078" y="148828"/>
                </a:cubicBezTo>
                <a:cubicBezTo>
                  <a:pt x="244078" y="119258"/>
                  <a:pt x="220071" y="95250"/>
                  <a:pt x="190500" y="95250"/>
                </a:cubicBezTo>
                <a:cubicBezTo>
                  <a:pt x="160929" y="95250"/>
                  <a:pt x="136922" y="119258"/>
                  <a:pt x="136922" y="148828"/>
                </a:cubicBezTo>
                <a:cubicBezTo>
                  <a:pt x="136922" y="178399"/>
                  <a:pt x="160929" y="202406"/>
                  <a:pt x="190500" y="202406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13" name="Text 10"/>
          <p:cNvSpPr/>
          <p:nvPr/>
        </p:nvSpPr>
        <p:spPr>
          <a:xfrm>
            <a:off x="1187450" y="79756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Frederick Thomas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7450" y="8331200"/>
            <a:ext cx="430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Super Coding Ninja™ | SCN Technologies™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564320" y="8026400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#FindAWay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577020" y="8331200"/>
            <a:ext cx="116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2026.05.15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NTCC Music App Unity Solution™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473200"/>
            <a:ext cx="1219200" cy="5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625600"/>
            <a:ext cx="9042400" cy="2120900"/>
          </a:xfrm>
          <a:custGeom>
            <a:avLst/>
            <a:gdLst/>
            <a:ahLst/>
            <a:cxnLst/>
            <a:rect l="l" t="t" r="r" b="b"/>
            <a:pathLst>
              <a:path w="9042400" h="2120900">
                <a:moveTo>
                  <a:pt x="0" y="0"/>
                </a:moveTo>
                <a:lnTo>
                  <a:pt x="8940800" y="0"/>
                </a:lnTo>
                <a:cubicBezTo>
                  <a:pt x="8996875" y="0"/>
                  <a:pt x="9042400" y="45525"/>
                  <a:pt x="9042400" y="101600"/>
                </a:cubicBezTo>
                <a:lnTo>
                  <a:pt x="9042400" y="2019300"/>
                </a:lnTo>
                <a:cubicBezTo>
                  <a:pt x="9042400" y="2075375"/>
                  <a:pt x="8996875" y="2120900"/>
                  <a:pt x="8940800" y="2120900"/>
                </a:cubicBezTo>
                <a:lnTo>
                  <a:pt x="0" y="21209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25600"/>
            <a:ext cx="50800" cy="21209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288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65200" y="203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9" name="Text 7"/>
          <p:cNvSpPr/>
          <p:nvPr/>
        </p:nvSpPr>
        <p:spPr>
          <a:xfrm>
            <a:off x="1676400" y="1828800"/>
            <a:ext cx="7848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9-File Adaptation Project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76400" y="2324100"/>
            <a:ext cx="7797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Adapting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Unity Solution™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NTCC Music App — a comprehensive church worship management platform. The project involves creating 9 specialized TypeScript modules for MIDI integration, instrument mapping, and real-time performance features.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3949700"/>
            <a:ext cx="9042400" cy="1816100"/>
          </a:xfrm>
          <a:custGeom>
            <a:avLst/>
            <a:gdLst/>
            <a:ahLst/>
            <a:cxnLst/>
            <a:rect l="l" t="t" r="r" b="b"/>
            <a:pathLst>
              <a:path w="9042400" h="1816100">
                <a:moveTo>
                  <a:pt x="0" y="0"/>
                </a:moveTo>
                <a:lnTo>
                  <a:pt x="8940800" y="0"/>
                </a:lnTo>
                <a:cubicBezTo>
                  <a:pt x="8996875" y="0"/>
                  <a:pt x="9042400" y="45525"/>
                  <a:pt x="9042400" y="101600"/>
                </a:cubicBezTo>
                <a:lnTo>
                  <a:pt x="9042400" y="1714500"/>
                </a:lnTo>
                <a:cubicBezTo>
                  <a:pt x="9042400" y="1770575"/>
                  <a:pt x="8996875" y="1816100"/>
                  <a:pt x="8940800" y="1816100"/>
                </a:cubicBezTo>
                <a:lnTo>
                  <a:pt x="0" y="18161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3400" y="3949700"/>
            <a:ext cx="50800" cy="1816100"/>
          </a:xfrm>
          <a:prstGeom prst="roundRect">
            <a:avLst>
              <a:gd name="adj" fmla="val 0"/>
            </a:avLst>
          </a:prstGeom>
          <a:solidFill>
            <a:srgbClr val="A9B4C2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41529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A9B4C2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65200" y="4356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9653" y="21610"/>
                </a:moveTo>
                <a:cubicBezTo>
                  <a:pt x="86142" y="26134"/>
                  <a:pt x="87690" y="35064"/>
                  <a:pt x="83165" y="41493"/>
                </a:cubicBezTo>
                <a:lnTo>
                  <a:pt x="49828" y="89118"/>
                </a:lnTo>
                <a:cubicBezTo>
                  <a:pt x="47387" y="92571"/>
                  <a:pt x="43577" y="94774"/>
                  <a:pt x="39350" y="95131"/>
                </a:cubicBezTo>
                <a:cubicBezTo>
                  <a:pt x="35123" y="95488"/>
                  <a:pt x="30956" y="94059"/>
                  <a:pt x="27980" y="91083"/>
                </a:cubicBezTo>
                <a:lnTo>
                  <a:pt x="4167" y="67270"/>
                </a:lnTo>
                <a:cubicBezTo>
                  <a:pt x="-1369" y="61674"/>
                  <a:pt x="-1369" y="52626"/>
                  <a:pt x="4167" y="47030"/>
                </a:cubicBezTo>
                <a:cubicBezTo>
                  <a:pt x="9704" y="41434"/>
                  <a:pt x="18812" y="41493"/>
                  <a:pt x="24408" y="47030"/>
                </a:cubicBezTo>
                <a:lnTo>
                  <a:pt x="36195" y="58817"/>
                </a:lnTo>
                <a:lnTo>
                  <a:pt x="59769" y="25122"/>
                </a:lnTo>
                <a:cubicBezTo>
                  <a:pt x="64294" y="18633"/>
                  <a:pt x="73223" y="17085"/>
                  <a:pt x="79653" y="21610"/>
                </a:cubicBezTo>
                <a:close/>
                <a:moveTo>
                  <a:pt x="79653" y="116860"/>
                </a:moveTo>
                <a:cubicBezTo>
                  <a:pt x="86142" y="121384"/>
                  <a:pt x="87690" y="130314"/>
                  <a:pt x="83165" y="136743"/>
                </a:cubicBezTo>
                <a:lnTo>
                  <a:pt x="49828" y="184368"/>
                </a:lnTo>
                <a:cubicBezTo>
                  <a:pt x="47387" y="187821"/>
                  <a:pt x="43577" y="190024"/>
                  <a:pt x="39350" y="190381"/>
                </a:cubicBezTo>
                <a:cubicBezTo>
                  <a:pt x="35123" y="190738"/>
                  <a:pt x="30956" y="189309"/>
                  <a:pt x="27980" y="186333"/>
                </a:cubicBezTo>
                <a:lnTo>
                  <a:pt x="4167" y="162520"/>
                </a:lnTo>
                <a:cubicBezTo>
                  <a:pt x="-1429" y="156924"/>
                  <a:pt x="-1429" y="147876"/>
                  <a:pt x="4167" y="142339"/>
                </a:cubicBezTo>
                <a:cubicBezTo>
                  <a:pt x="9763" y="136803"/>
                  <a:pt x="18812" y="136743"/>
                  <a:pt x="24348" y="142339"/>
                </a:cubicBezTo>
                <a:lnTo>
                  <a:pt x="36135" y="154126"/>
                </a:lnTo>
                <a:lnTo>
                  <a:pt x="59710" y="120432"/>
                </a:lnTo>
                <a:cubicBezTo>
                  <a:pt x="64234" y="113943"/>
                  <a:pt x="73164" y="112395"/>
                  <a:pt x="79593" y="116919"/>
                </a:cubicBezTo>
                <a:close/>
                <a:moveTo>
                  <a:pt x="133350" y="57150"/>
                </a:moveTo>
                <a:cubicBezTo>
                  <a:pt x="133350" y="46613"/>
                  <a:pt x="141863" y="38100"/>
                  <a:pt x="152400" y="38100"/>
                </a:cubicBez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52400" y="76200"/>
                </a:lnTo>
                <a:cubicBezTo>
                  <a:pt x="141863" y="76200"/>
                  <a:pt x="133350" y="67687"/>
                  <a:pt x="133350" y="57150"/>
                </a:cubicBezTo>
                <a:close/>
                <a:moveTo>
                  <a:pt x="133350" y="152400"/>
                </a:moveTo>
                <a:cubicBezTo>
                  <a:pt x="133350" y="141863"/>
                  <a:pt x="141863" y="133350"/>
                  <a:pt x="15240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52400" y="171450"/>
                </a:lnTo>
                <a:cubicBezTo>
                  <a:pt x="141863" y="171450"/>
                  <a:pt x="133350" y="162937"/>
                  <a:pt x="133350" y="152400"/>
                </a:cubicBezTo>
                <a:close/>
                <a:moveTo>
                  <a:pt x="95250" y="247650"/>
                </a:moveTo>
                <a:cubicBezTo>
                  <a:pt x="95250" y="237113"/>
                  <a:pt x="103763" y="228600"/>
                  <a:pt x="114300" y="228600"/>
                </a:cubicBez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14300" y="266700"/>
                </a:lnTo>
                <a:cubicBezTo>
                  <a:pt x="103763" y="266700"/>
                  <a:pt x="95250" y="258187"/>
                  <a:pt x="95250" y="247650"/>
                </a:cubicBezTo>
                <a:close/>
                <a:moveTo>
                  <a:pt x="38100" y="223838"/>
                </a:moveTo>
                <a:cubicBezTo>
                  <a:pt x="51242" y="223838"/>
                  <a:pt x="61912" y="234508"/>
                  <a:pt x="61912" y="247650"/>
                </a:cubicBezTo>
                <a:cubicBezTo>
                  <a:pt x="61912" y="260792"/>
                  <a:pt x="51242" y="271463"/>
                  <a:pt x="38100" y="271463"/>
                </a:cubicBezTo>
                <a:cubicBezTo>
                  <a:pt x="24958" y="271463"/>
                  <a:pt x="14288" y="260792"/>
                  <a:pt x="14288" y="247650"/>
                </a:cubicBezTo>
                <a:cubicBezTo>
                  <a:pt x="14288" y="234508"/>
                  <a:pt x="24958" y="223838"/>
                  <a:pt x="38100" y="223838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5" name="Text 13"/>
          <p:cNvSpPr/>
          <p:nvPr/>
        </p:nvSpPr>
        <p:spPr>
          <a:xfrm>
            <a:off x="1676400" y="4152900"/>
            <a:ext cx="7848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Progress: 6 of 9 Complete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76400" y="4648200"/>
            <a:ext cx="779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Successfully completed core modules including General MIDI instrument mapping with worship configurations. Now implementing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UnityMediaPipe.ts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the MediaPipe Face Mesh service for conductor blink/beat detection.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5969000"/>
            <a:ext cx="9042400" cy="1816100"/>
          </a:xfrm>
          <a:custGeom>
            <a:avLst/>
            <a:gdLst/>
            <a:ahLst/>
            <a:cxnLst/>
            <a:rect l="l" t="t" r="r" b="b"/>
            <a:pathLst>
              <a:path w="9042400" h="1816100">
                <a:moveTo>
                  <a:pt x="0" y="0"/>
                </a:moveTo>
                <a:lnTo>
                  <a:pt x="8940800" y="0"/>
                </a:lnTo>
                <a:cubicBezTo>
                  <a:pt x="8996875" y="0"/>
                  <a:pt x="9042400" y="45525"/>
                  <a:pt x="9042400" y="101600"/>
                </a:cubicBezTo>
                <a:lnTo>
                  <a:pt x="9042400" y="1714500"/>
                </a:lnTo>
                <a:cubicBezTo>
                  <a:pt x="9042400" y="1770575"/>
                  <a:pt x="8996875" y="1816100"/>
                  <a:pt x="8940800" y="1816100"/>
                </a:cubicBezTo>
                <a:lnTo>
                  <a:pt x="0" y="18161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5969000"/>
            <a:ext cx="50800" cy="18161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6172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65200" y="637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1" name="Text 19"/>
          <p:cNvSpPr/>
          <p:nvPr/>
        </p:nvSpPr>
        <p:spPr>
          <a:xfrm>
            <a:off x="1676400" y="6172200"/>
            <a:ext cx="7848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Session's Focus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76400" y="6667500"/>
            <a:ext cx="779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UnityMediaPipe.ts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processes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6F0F3"/>
                </a:solidFill>
                <a:highlight>
                  <a:srgbClr val="E6F0F3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468 facial landmarks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6F0F3"/>
                </a:solidFill>
                <a:highlight>
                  <a:srgbClr val="E6F0F3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30+ FPS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detect rhythmic patterns from conductor eye movements, enabling natural tempo synchronization for worship bands.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73841" y="1625600"/>
            <a:ext cx="5969000" cy="7772400"/>
          </a:xfrm>
          <a:prstGeom prst="roundRect">
            <a:avLst>
              <a:gd name="adj" fmla="val 1702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008791" y="187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5719"/>
                </a:moveTo>
                <a:cubicBezTo>
                  <a:pt x="0" y="29170"/>
                  <a:pt x="5308" y="23812"/>
                  <a:pt x="11906" y="23812"/>
                </a:cubicBezTo>
                <a:lnTo>
                  <a:pt x="35719" y="23812"/>
                </a:lnTo>
                <a:cubicBezTo>
                  <a:pt x="42317" y="23812"/>
                  <a:pt x="47625" y="29121"/>
                  <a:pt x="47625" y="35719"/>
                </a:cubicBezTo>
                <a:lnTo>
                  <a:pt x="47625" y="87313"/>
                </a:lnTo>
                <a:lnTo>
                  <a:pt x="59531" y="87313"/>
                </a:lnTo>
                <a:cubicBezTo>
                  <a:pt x="66129" y="87313"/>
                  <a:pt x="71438" y="92621"/>
                  <a:pt x="71438" y="99219"/>
                </a:cubicBezTo>
                <a:cubicBezTo>
                  <a:pt x="71438" y="105817"/>
                  <a:pt x="66129" y="111125"/>
                  <a:pt x="59531" y="111125"/>
                </a:cubicBezTo>
                <a:lnTo>
                  <a:pt x="11906" y="111125"/>
                </a:lnTo>
                <a:cubicBezTo>
                  <a:pt x="5308" y="111125"/>
                  <a:pt x="0" y="105817"/>
                  <a:pt x="0" y="99219"/>
                </a:cubicBezTo>
                <a:cubicBezTo>
                  <a:pt x="0" y="92621"/>
                  <a:pt x="5308" y="87313"/>
                  <a:pt x="11906" y="87313"/>
                </a:cubicBezTo>
                <a:lnTo>
                  <a:pt x="23812" y="87313"/>
                </a:lnTo>
                <a:lnTo>
                  <a:pt x="23812" y="47625"/>
                </a:lnTo>
                <a:lnTo>
                  <a:pt x="11906" y="47625"/>
                </a:lnTo>
                <a:cubicBezTo>
                  <a:pt x="5308" y="47625"/>
                  <a:pt x="0" y="42317"/>
                  <a:pt x="0" y="35719"/>
                </a:cubicBezTo>
                <a:close/>
                <a:moveTo>
                  <a:pt x="15081" y="149423"/>
                </a:moveTo>
                <a:cubicBezTo>
                  <a:pt x="20737" y="145157"/>
                  <a:pt x="27632" y="142875"/>
                  <a:pt x="34727" y="142875"/>
                </a:cubicBezTo>
                <a:lnTo>
                  <a:pt x="37157" y="142875"/>
                </a:lnTo>
                <a:cubicBezTo>
                  <a:pt x="53876" y="142875"/>
                  <a:pt x="67469" y="156468"/>
                  <a:pt x="67469" y="173186"/>
                </a:cubicBezTo>
                <a:cubicBezTo>
                  <a:pt x="67469" y="182910"/>
                  <a:pt x="62805" y="191988"/>
                  <a:pt x="54967" y="197693"/>
                </a:cubicBezTo>
                <a:lnTo>
                  <a:pt x="43061" y="206375"/>
                </a:lnTo>
                <a:lnTo>
                  <a:pt x="59531" y="206375"/>
                </a:lnTo>
                <a:cubicBezTo>
                  <a:pt x="66129" y="206375"/>
                  <a:pt x="71438" y="211683"/>
                  <a:pt x="71438" y="218281"/>
                </a:cubicBezTo>
                <a:cubicBezTo>
                  <a:pt x="71438" y="224879"/>
                  <a:pt x="66129" y="230188"/>
                  <a:pt x="59531" y="230188"/>
                </a:cubicBezTo>
                <a:lnTo>
                  <a:pt x="14536" y="230188"/>
                </a:lnTo>
                <a:cubicBezTo>
                  <a:pt x="6499" y="230188"/>
                  <a:pt x="0" y="223689"/>
                  <a:pt x="0" y="215652"/>
                </a:cubicBezTo>
                <a:cubicBezTo>
                  <a:pt x="0" y="210989"/>
                  <a:pt x="2232" y="206623"/>
                  <a:pt x="6003" y="203895"/>
                </a:cubicBezTo>
                <a:lnTo>
                  <a:pt x="40977" y="178445"/>
                </a:lnTo>
                <a:cubicBezTo>
                  <a:pt x="42664" y="177205"/>
                  <a:pt x="43656" y="175270"/>
                  <a:pt x="43656" y="173186"/>
                </a:cubicBezTo>
                <a:cubicBezTo>
                  <a:pt x="43656" y="169614"/>
                  <a:pt x="40729" y="166687"/>
                  <a:pt x="37157" y="166687"/>
                </a:cubicBezTo>
                <a:lnTo>
                  <a:pt x="34727" y="166688"/>
                </a:lnTo>
                <a:cubicBezTo>
                  <a:pt x="32792" y="166688"/>
                  <a:pt x="30907" y="167332"/>
                  <a:pt x="29369" y="168473"/>
                </a:cubicBezTo>
                <a:lnTo>
                  <a:pt x="19050" y="176213"/>
                </a:lnTo>
                <a:cubicBezTo>
                  <a:pt x="13791" y="180181"/>
                  <a:pt x="6350" y="179090"/>
                  <a:pt x="2381" y="173831"/>
                </a:cubicBezTo>
                <a:cubicBezTo>
                  <a:pt x="-1588" y="168573"/>
                  <a:pt x="-496" y="161131"/>
                  <a:pt x="4763" y="157163"/>
                </a:cubicBezTo>
                <a:lnTo>
                  <a:pt x="15081" y="149423"/>
                </a:lnTo>
                <a:close/>
                <a:moveTo>
                  <a:pt x="111125" y="31750"/>
                </a:moveTo>
                <a:lnTo>
                  <a:pt x="238125" y="31750"/>
                </a:lnTo>
                <a:cubicBezTo>
                  <a:pt x="246906" y="31750"/>
                  <a:pt x="254000" y="38844"/>
                  <a:pt x="254000" y="47625"/>
                </a:cubicBezTo>
                <a:cubicBezTo>
                  <a:pt x="254000" y="56406"/>
                  <a:pt x="246906" y="63500"/>
                  <a:pt x="238125" y="63500"/>
                </a:cubicBezTo>
                <a:lnTo>
                  <a:pt x="111125" y="63500"/>
                </a:lnTo>
                <a:cubicBezTo>
                  <a:pt x="102344" y="63500"/>
                  <a:pt x="95250" y="56406"/>
                  <a:pt x="95250" y="47625"/>
                </a:cubicBezTo>
                <a:cubicBezTo>
                  <a:pt x="95250" y="38844"/>
                  <a:pt x="102344" y="31750"/>
                  <a:pt x="111125" y="31750"/>
                </a:cubicBezTo>
                <a:close/>
                <a:moveTo>
                  <a:pt x="111125" y="111125"/>
                </a:move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111125" y="142875"/>
                </a:lnTo>
                <a:cubicBezTo>
                  <a:pt x="102344" y="142875"/>
                  <a:pt x="95250" y="135781"/>
                  <a:pt x="95250" y="127000"/>
                </a:cubicBezTo>
                <a:cubicBezTo>
                  <a:pt x="95250" y="118219"/>
                  <a:pt x="102344" y="111125"/>
                  <a:pt x="111125" y="111125"/>
                </a:cubicBezTo>
                <a:close/>
                <a:moveTo>
                  <a:pt x="111125" y="190500"/>
                </a:move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111125" y="222250"/>
                </a:lnTo>
                <a:cubicBezTo>
                  <a:pt x="102344" y="222250"/>
                  <a:pt x="95250" y="215156"/>
                  <a:pt x="95250" y="206375"/>
                </a:cubicBezTo>
                <a:cubicBezTo>
                  <a:pt x="95250" y="197594"/>
                  <a:pt x="102344" y="190500"/>
                  <a:pt x="111125" y="19050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5" name="Text 23"/>
          <p:cNvSpPr/>
          <p:nvPr/>
        </p:nvSpPr>
        <p:spPr>
          <a:xfrm>
            <a:off x="10294541" y="1828800"/>
            <a:ext cx="537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File Structure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983391" y="2343150"/>
            <a:ext cx="5549900" cy="876300"/>
          </a:xfrm>
          <a:prstGeom prst="roundRect">
            <a:avLst>
              <a:gd name="adj" fmla="val 11594"/>
            </a:avLst>
          </a:prstGeom>
          <a:solidFill>
            <a:srgbClr val="1A1D21">
              <a:alpha val="50196"/>
            </a:srgbClr>
          </a:solidFill>
          <a:ln w="12700">
            <a:solidFill>
              <a:srgbClr val="A9B4C2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42141" y="25781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270728" y="26924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9" name="Text 27"/>
          <p:cNvSpPr/>
          <p:nvPr/>
        </p:nvSpPr>
        <p:spPr>
          <a:xfrm>
            <a:off x="10700941" y="2501900"/>
            <a:ext cx="179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src/types/midi.ts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00941" y="280670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MIDI Type Definitions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83391" y="3333750"/>
            <a:ext cx="5549900" cy="876300"/>
          </a:xfrm>
          <a:prstGeom prst="roundRect">
            <a:avLst>
              <a:gd name="adj" fmla="val 11594"/>
            </a:avLst>
          </a:prstGeom>
          <a:solidFill>
            <a:srgbClr val="1A1D21">
              <a:alpha val="50196"/>
            </a:srgbClr>
          </a:solidFill>
          <a:ln w="12700">
            <a:solidFill>
              <a:srgbClr val="A9B4C2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42141" y="35687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270728" y="36830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4" name="Text 32"/>
          <p:cNvSpPr/>
          <p:nvPr/>
        </p:nvSpPr>
        <p:spPr>
          <a:xfrm>
            <a:off x="10700941" y="3492500"/>
            <a:ext cx="214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src/config/worship.ts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700941" y="3797300"/>
            <a:ext cx="213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Worship Configuration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983391" y="4324350"/>
            <a:ext cx="5549900" cy="876300"/>
          </a:xfrm>
          <a:prstGeom prst="roundRect">
            <a:avLst>
              <a:gd name="adj" fmla="val 11594"/>
            </a:avLst>
          </a:prstGeom>
          <a:solidFill>
            <a:srgbClr val="1A1D21">
              <a:alpha val="50196"/>
            </a:srgbClr>
          </a:solidFill>
          <a:ln w="12700">
            <a:solidFill>
              <a:srgbClr val="A9B4C2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42141" y="45593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270728" y="46736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9" name="Text 37"/>
          <p:cNvSpPr/>
          <p:nvPr/>
        </p:nvSpPr>
        <p:spPr>
          <a:xfrm>
            <a:off x="10700941" y="4483100"/>
            <a:ext cx="250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src/services/UnityMidi.ts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700941" y="4787900"/>
            <a:ext cx="248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MIDI Service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83391" y="5314950"/>
            <a:ext cx="5549900" cy="876300"/>
          </a:xfrm>
          <a:prstGeom prst="roundRect">
            <a:avLst>
              <a:gd name="adj" fmla="val 11594"/>
            </a:avLst>
          </a:prstGeom>
          <a:solidFill>
            <a:srgbClr val="1A1D21">
              <a:alpha val="50196"/>
            </a:srgbClr>
          </a:solidFill>
          <a:ln w="12700">
            <a:solidFill>
              <a:srgbClr val="A9B4C2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42141" y="55499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270728" y="56642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4" name="Text 42"/>
          <p:cNvSpPr/>
          <p:nvPr/>
        </p:nvSpPr>
        <p:spPr>
          <a:xfrm>
            <a:off x="10700941" y="54737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src/lib/instrumentMap.ts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700941" y="5778500"/>
            <a:ext cx="2451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Instrument Mapping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989741" y="6311900"/>
            <a:ext cx="5537200" cy="889000"/>
          </a:xfrm>
          <a:prstGeom prst="roundRect">
            <a:avLst>
              <a:gd name="adj" fmla="val 11429"/>
            </a:avLst>
          </a:prstGeom>
          <a:solidFill>
            <a:srgbClr val="1A1D21">
              <a:alpha val="50196"/>
            </a:srgbClr>
          </a:solidFill>
          <a:ln w="25400">
            <a:solidFill>
              <a:srgbClr val="E6F0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54841" y="6553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310019" y="66294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713641" y="6477000"/>
            <a:ext cx="308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src/services/UnityMediaPipe.ts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713641" y="678180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Face Mesh ⭐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983391" y="7321550"/>
            <a:ext cx="5549900" cy="876300"/>
          </a:xfrm>
          <a:prstGeom prst="roundRect">
            <a:avLst>
              <a:gd name="adj" fmla="val 11594"/>
            </a:avLst>
          </a:prstGeom>
          <a:solidFill>
            <a:srgbClr val="1A1D21">
              <a:alpha val="30196"/>
            </a:srgbClr>
          </a:solidFill>
          <a:ln w="12700">
            <a:solidFill>
              <a:srgbClr val="4A5462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142141" y="75565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4A5462">
              <a:alpha val="3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290572" y="76327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700941" y="74803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9B4C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src/services/UnityConductor.ts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700941" y="7785100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54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Conductor Service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983391" y="8312150"/>
            <a:ext cx="5549900" cy="876300"/>
          </a:xfrm>
          <a:prstGeom prst="roundRect">
            <a:avLst>
              <a:gd name="adj" fmla="val 11594"/>
            </a:avLst>
          </a:prstGeom>
          <a:solidFill>
            <a:srgbClr val="1A1D21">
              <a:alpha val="30196"/>
            </a:srgbClr>
          </a:solidFill>
          <a:ln w="12700">
            <a:solidFill>
              <a:srgbClr val="4A5462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42141" y="85471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4A5462">
              <a:alpha val="3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92159" y="86233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700941" y="84709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9B4C2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src/app.ts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700941" y="877570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546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Application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MediaPipe Face Mesh Technology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473200"/>
            <a:ext cx="1219200" cy="5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676400"/>
            <a:ext cx="8991600" cy="1625600"/>
          </a:xfrm>
          <a:custGeom>
            <a:avLst/>
            <a:gdLst/>
            <a:ahLst/>
            <a:cxnLst/>
            <a:rect l="l" t="t" r="r" b="b"/>
            <a:pathLst>
              <a:path w="8991600" h="16256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1524000"/>
                </a:lnTo>
                <a:cubicBezTo>
                  <a:pt x="8991600" y="1580075"/>
                  <a:pt x="8946075" y="1625600"/>
                  <a:pt x="8890000" y="1625600"/>
                </a:cubicBez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16256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7" name="Shape 5"/>
          <p:cNvSpPr/>
          <p:nvPr/>
        </p:nvSpPr>
        <p:spPr>
          <a:xfrm>
            <a:off x="711200" y="1828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89000" y="200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1274" y="-1240"/>
                </a:moveTo>
                <a:cubicBezTo>
                  <a:pt x="121096" y="-6896"/>
                  <a:pt x="133201" y="-6896"/>
                  <a:pt x="143024" y="-1240"/>
                </a:cubicBezTo>
                <a:lnTo>
                  <a:pt x="230287" y="49113"/>
                </a:lnTo>
                <a:cubicBezTo>
                  <a:pt x="240109" y="54769"/>
                  <a:pt x="246162" y="65286"/>
                  <a:pt x="246162" y="76597"/>
                </a:cubicBezTo>
                <a:lnTo>
                  <a:pt x="246162" y="177304"/>
                </a:lnTo>
                <a:cubicBezTo>
                  <a:pt x="246162" y="188664"/>
                  <a:pt x="240109" y="199132"/>
                  <a:pt x="230287" y="204787"/>
                </a:cubicBezTo>
                <a:lnTo>
                  <a:pt x="143024" y="255240"/>
                </a:lnTo>
                <a:cubicBezTo>
                  <a:pt x="133201" y="260896"/>
                  <a:pt x="121096" y="260896"/>
                  <a:pt x="111274" y="255240"/>
                </a:cubicBezTo>
                <a:lnTo>
                  <a:pt x="24061" y="204887"/>
                </a:lnTo>
                <a:cubicBezTo>
                  <a:pt x="14238" y="199231"/>
                  <a:pt x="8186" y="188714"/>
                  <a:pt x="8186" y="177403"/>
                </a:cubicBezTo>
                <a:lnTo>
                  <a:pt x="8186" y="76696"/>
                </a:lnTo>
                <a:cubicBezTo>
                  <a:pt x="8186" y="65336"/>
                  <a:pt x="14238" y="54868"/>
                  <a:pt x="24061" y="49213"/>
                </a:cubicBezTo>
                <a:lnTo>
                  <a:pt x="111274" y="-1240"/>
                </a:lnTo>
                <a:close/>
                <a:moveTo>
                  <a:pt x="214362" y="177354"/>
                </a:moveTo>
                <a:lnTo>
                  <a:pt x="214362" y="94952"/>
                </a:lnTo>
                <a:lnTo>
                  <a:pt x="143024" y="136128"/>
                </a:lnTo>
                <a:lnTo>
                  <a:pt x="143024" y="218529"/>
                </a:lnTo>
                <a:lnTo>
                  <a:pt x="214362" y="177354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9" name="Text 7"/>
          <p:cNvSpPr/>
          <p:nvPr/>
        </p:nvSpPr>
        <p:spPr>
          <a:xfrm>
            <a:off x="1473200" y="1828800"/>
            <a:ext cx="802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468-478 3D Facial Landmarks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3200" y="22352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Face Mesh detects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468 dense 3D landmarks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 face in real-time from a single RGB camera. With iris refinement enabled, it provides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478 landmarks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including 10 additional iris points (5 per eye) for enhanced eye tracking precision.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3403600"/>
            <a:ext cx="8991600" cy="1625600"/>
          </a:xfrm>
          <a:custGeom>
            <a:avLst/>
            <a:gdLst/>
            <a:ahLst/>
            <a:cxnLst/>
            <a:rect l="l" t="t" r="r" b="b"/>
            <a:pathLst>
              <a:path w="8991600" h="16256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1524000"/>
                </a:lnTo>
                <a:cubicBezTo>
                  <a:pt x="8991600" y="1580075"/>
                  <a:pt x="8946075" y="1625600"/>
                  <a:pt x="8890000" y="1625600"/>
                </a:cubicBez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33400" y="3403600"/>
            <a:ext cx="50800" cy="1625600"/>
          </a:xfrm>
          <a:prstGeom prst="roundRect">
            <a:avLst>
              <a:gd name="adj" fmla="val 0"/>
            </a:avLst>
          </a:prstGeom>
          <a:solidFill>
            <a:srgbClr val="A9B4C2"/>
          </a:solidFill>
          <a:ln/>
        </p:spPr>
      </p:sp>
      <p:sp>
        <p:nvSpPr>
          <p:cNvPr id="13" name="Shape 11"/>
          <p:cNvSpPr/>
          <p:nvPr/>
        </p:nvSpPr>
        <p:spPr>
          <a:xfrm>
            <a:off x="711200" y="3556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A9B4C2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4875" y="37338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" y="3556000"/>
            <a:ext cx="802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Performance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73200" y="39624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Optimized for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50-1000 FPS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mobile GPUs, with typical desktop performance of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30-60 FPS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CPU-only inference. The lightweight pipeline enables on-device processing without cloud dependencies, ensuring privacy and low latency.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5130800"/>
            <a:ext cx="8991600" cy="1625600"/>
          </a:xfrm>
          <a:custGeom>
            <a:avLst/>
            <a:gdLst/>
            <a:ahLst/>
            <a:cxnLst/>
            <a:rect l="l" t="t" r="r" b="b"/>
            <a:pathLst>
              <a:path w="8991600" h="16256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1524000"/>
                </a:lnTo>
                <a:cubicBezTo>
                  <a:pt x="8991600" y="1580075"/>
                  <a:pt x="8946075" y="1625600"/>
                  <a:pt x="8890000" y="1625600"/>
                </a:cubicBez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5130800"/>
            <a:ext cx="50800" cy="16256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200" y="52832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89000" y="546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" y="5283200"/>
            <a:ext cx="802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Dual-Model Pipeline Architecture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73200" y="56896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deep neural networks work in sequence: (1)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Detector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operates on full image to compute face bounding boxes, (2)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 Landmark Regressor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processes cropped face regions with attention-based refinement to predict precise 3D surface geometry.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6858000"/>
            <a:ext cx="8991600" cy="1625600"/>
          </a:xfrm>
          <a:custGeom>
            <a:avLst/>
            <a:gdLst/>
            <a:ahLst/>
            <a:cxnLst/>
            <a:rect l="l" t="t" r="r" b="b"/>
            <a:pathLst>
              <a:path w="8991600" h="16256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1524000"/>
                </a:lnTo>
                <a:cubicBezTo>
                  <a:pt x="8991600" y="1580075"/>
                  <a:pt x="8946075" y="1625600"/>
                  <a:pt x="8890000" y="1625600"/>
                </a:cubicBez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33400" y="6858000"/>
            <a:ext cx="50800" cy="1625600"/>
          </a:xfrm>
          <a:prstGeom prst="roundRect">
            <a:avLst>
              <a:gd name="adj" fmla="val 0"/>
            </a:avLst>
          </a:prstGeom>
          <a:solidFill>
            <a:srgbClr val="A9B4C2"/>
          </a:solidFill>
          <a:ln/>
        </p:spPr>
      </p:sp>
      <p:sp>
        <p:nvSpPr>
          <p:cNvPr id="25" name="Shape 23"/>
          <p:cNvSpPr/>
          <p:nvPr/>
        </p:nvSpPr>
        <p:spPr>
          <a:xfrm>
            <a:off x="711200" y="70104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A9B4C2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73125" y="71882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-7937"/>
                </a:moveTo>
                <a:cubicBezTo>
                  <a:pt x="151656" y="-7937"/>
                  <a:pt x="158750" y="-843"/>
                  <a:pt x="158750" y="7938"/>
                </a:cubicBezTo>
                <a:lnTo>
                  <a:pt x="158750" y="17016"/>
                </a:lnTo>
                <a:cubicBezTo>
                  <a:pt x="207417" y="23961"/>
                  <a:pt x="245914" y="62458"/>
                  <a:pt x="252859" y="111125"/>
                </a:cubicBezTo>
                <a:lnTo>
                  <a:pt x="261937" y="111125"/>
                </a:lnTo>
                <a:cubicBezTo>
                  <a:pt x="270718" y="111125"/>
                  <a:pt x="277813" y="118219"/>
                  <a:pt x="277813" y="127000"/>
                </a:cubicBezTo>
                <a:cubicBezTo>
                  <a:pt x="277813" y="135781"/>
                  <a:pt x="270718" y="142875"/>
                  <a:pt x="261937" y="142875"/>
                </a:cubicBezTo>
                <a:lnTo>
                  <a:pt x="252859" y="142875"/>
                </a:lnTo>
                <a:cubicBezTo>
                  <a:pt x="245914" y="191542"/>
                  <a:pt x="207417" y="230039"/>
                  <a:pt x="158750" y="236984"/>
                </a:cubicBezTo>
                <a:lnTo>
                  <a:pt x="158750" y="246063"/>
                </a:lnTo>
                <a:cubicBezTo>
                  <a:pt x="158750" y="254843"/>
                  <a:pt x="151656" y="261937"/>
                  <a:pt x="142875" y="261937"/>
                </a:cubicBezTo>
                <a:cubicBezTo>
                  <a:pt x="134094" y="261937"/>
                  <a:pt x="127000" y="254843"/>
                  <a:pt x="127000" y="246063"/>
                </a:cubicBezTo>
                <a:lnTo>
                  <a:pt x="127000" y="236984"/>
                </a:lnTo>
                <a:cubicBezTo>
                  <a:pt x="78333" y="230039"/>
                  <a:pt x="39836" y="191542"/>
                  <a:pt x="32891" y="142875"/>
                </a:cubicBezTo>
                <a:lnTo>
                  <a:pt x="23812" y="142875"/>
                </a:lnTo>
                <a:cubicBezTo>
                  <a:pt x="15032" y="142875"/>
                  <a:pt x="7938" y="135781"/>
                  <a:pt x="7938" y="127000"/>
                </a:cubicBezTo>
                <a:cubicBezTo>
                  <a:pt x="7938" y="118219"/>
                  <a:pt x="15032" y="111125"/>
                  <a:pt x="23812" y="111125"/>
                </a:cubicBezTo>
                <a:lnTo>
                  <a:pt x="32891" y="111125"/>
                </a:lnTo>
                <a:cubicBezTo>
                  <a:pt x="39836" y="62458"/>
                  <a:pt x="78333" y="23961"/>
                  <a:pt x="127000" y="17016"/>
                </a:cubicBezTo>
                <a:lnTo>
                  <a:pt x="127000" y="7938"/>
                </a:lnTo>
                <a:cubicBezTo>
                  <a:pt x="127000" y="-843"/>
                  <a:pt x="134094" y="-7937"/>
                  <a:pt x="142875" y="-7937"/>
                </a:cubicBezTo>
                <a:close/>
                <a:moveTo>
                  <a:pt x="65088" y="142875"/>
                </a:moveTo>
                <a:cubicBezTo>
                  <a:pt x="71388" y="173980"/>
                  <a:pt x="95895" y="198487"/>
                  <a:pt x="127000" y="204788"/>
                </a:cubicBezTo>
                <a:lnTo>
                  <a:pt x="127000" y="198438"/>
                </a:lnTo>
                <a:cubicBezTo>
                  <a:pt x="127000" y="189657"/>
                  <a:pt x="134094" y="182563"/>
                  <a:pt x="142875" y="182563"/>
                </a:cubicBezTo>
                <a:cubicBezTo>
                  <a:pt x="151656" y="182563"/>
                  <a:pt x="158750" y="189657"/>
                  <a:pt x="158750" y="198438"/>
                </a:cubicBezTo>
                <a:lnTo>
                  <a:pt x="158750" y="204788"/>
                </a:lnTo>
                <a:cubicBezTo>
                  <a:pt x="189855" y="198487"/>
                  <a:pt x="214362" y="173980"/>
                  <a:pt x="220663" y="142875"/>
                </a:cubicBezTo>
                <a:lnTo>
                  <a:pt x="214313" y="142875"/>
                </a:lnTo>
                <a:cubicBezTo>
                  <a:pt x="205532" y="142875"/>
                  <a:pt x="198438" y="135781"/>
                  <a:pt x="198438" y="127000"/>
                </a:cubicBezTo>
                <a:cubicBezTo>
                  <a:pt x="198438" y="118219"/>
                  <a:pt x="205532" y="111125"/>
                  <a:pt x="214313" y="111125"/>
                </a:cubicBezTo>
                <a:lnTo>
                  <a:pt x="220663" y="111125"/>
                </a:lnTo>
                <a:cubicBezTo>
                  <a:pt x="214362" y="80020"/>
                  <a:pt x="189855" y="55513"/>
                  <a:pt x="158750" y="49213"/>
                </a:cubicBezTo>
                <a:lnTo>
                  <a:pt x="158750" y="55563"/>
                </a:lnTo>
                <a:cubicBezTo>
                  <a:pt x="158750" y="64343"/>
                  <a:pt x="151656" y="71438"/>
                  <a:pt x="142875" y="71438"/>
                </a:cubicBezTo>
                <a:cubicBezTo>
                  <a:pt x="134094" y="71438"/>
                  <a:pt x="127000" y="64343"/>
                  <a:pt x="127000" y="55563"/>
                </a:cubicBezTo>
                <a:lnTo>
                  <a:pt x="127000" y="49213"/>
                </a:lnTo>
                <a:cubicBezTo>
                  <a:pt x="95895" y="55513"/>
                  <a:pt x="71388" y="80020"/>
                  <a:pt x="65088" y="111125"/>
                </a:cubicBezTo>
                <a:lnTo>
                  <a:pt x="71438" y="111125"/>
                </a:lnTo>
                <a:cubicBezTo>
                  <a:pt x="80218" y="111125"/>
                  <a:pt x="87313" y="118219"/>
                  <a:pt x="87313" y="127000"/>
                </a:cubicBezTo>
                <a:cubicBezTo>
                  <a:pt x="87313" y="135781"/>
                  <a:pt x="80218" y="142875"/>
                  <a:pt x="71438" y="142875"/>
                </a:cubicBezTo>
                <a:lnTo>
                  <a:pt x="65088" y="142875"/>
                </a:lnTo>
                <a:close/>
                <a:moveTo>
                  <a:pt x="142875" y="103188"/>
                </a:moveTo>
                <a:cubicBezTo>
                  <a:pt x="156017" y="103188"/>
                  <a:pt x="166688" y="113858"/>
                  <a:pt x="166688" y="127000"/>
                </a:cubicBezTo>
                <a:cubicBezTo>
                  <a:pt x="166688" y="140142"/>
                  <a:pt x="156017" y="150813"/>
                  <a:pt x="142875" y="150813"/>
                </a:cubicBezTo>
                <a:cubicBezTo>
                  <a:pt x="129733" y="150813"/>
                  <a:pt x="119063" y="140142"/>
                  <a:pt x="119063" y="127000"/>
                </a:cubicBezTo>
                <a:cubicBezTo>
                  <a:pt x="119063" y="113858"/>
                  <a:pt x="129733" y="103188"/>
                  <a:pt x="142875" y="103188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" y="7010400"/>
            <a:ext cx="802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Iris Refinement &amp; Eye Tracking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73200" y="74168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Attention Mesh Model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refines landmark coordinates around eyes and lips. Iris detection provides pupil center estimation with ±1mm accuracy at 50cm distance, enabling precise gaze tracking and blink detection for conductor beat analysis.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733359" y="1676400"/>
            <a:ext cx="6019800" cy="6883400"/>
          </a:xfrm>
          <a:prstGeom prst="roundRect">
            <a:avLst>
              <a:gd name="adj" fmla="val 1688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879409" y="1879600"/>
            <a:ext cx="572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Mesh Visualization</a:t>
            </a:r>
            <a:endParaRPr lang="en-US" sz="1600" dirty="0"/>
          </a:p>
        </p:txBody>
      </p:sp>
      <p:pic>
        <p:nvPicPr>
          <p:cNvPr id="31" name="Image 0" descr="https://kimi-web-img.moonshot.cn/img/user-images.githubusercontent.com/76829403/218071834-5fda1caa-d32c-420d-90aa-6aba255a76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6559" y="2387600"/>
            <a:ext cx="5562600" cy="5562600"/>
          </a:xfrm>
          <a:prstGeom prst="roundRect">
            <a:avLst>
              <a:gd name="adj" fmla="val 1826"/>
            </a:avLst>
          </a:prstGeom>
        </p:spPr>
      </p:pic>
      <p:sp>
        <p:nvSpPr>
          <p:cNvPr id="32" name="Text 29"/>
          <p:cNvSpPr/>
          <p:nvPr/>
        </p:nvSpPr>
        <p:spPr>
          <a:xfrm>
            <a:off x="9892109" y="8097441"/>
            <a:ext cx="570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468 landmarks overlaid on face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733359" y="8707041"/>
            <a:ext cx="6019800" cy="3568700"/>
          </a:xfrm>
          <a:prstGeom prst="roundRect">
            <a:avLst>
              <a:gd name="adj" fmla="val 2847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9936559" y="8910241"/>
            <a:ext cx="572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Technical Specs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936559" y="9780191"/>
            <a:ext cx="5613400" cy="12700"/>
          </a:xfrm>
          <a:prstGeom prst="roundRect">
            <a:avLst>
              <a:gd name="adj" fmla="val 0"/>
            </a:avLst>
          </a:prstGeom>
          <a:solidFill>
            <a:srgbClr val="A9B4C2">
              <a:alpha val="2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9936559" y="9418241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3874552" y="9418241"/>
            <a:ext cx="177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RGB Image/Video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9936559" y="10250091"/>
            <a:ext cx="5613400" cy="12700"/>
          </a:xfrm>
          <a:prstGeom prst="roundRect">
            <a:avLst>
              <a:gd name="adj" fmla="val 0"/>
            </a:avLst>
          </a:prstGeom>
          <a:solidFill>
            <a:srgbClr val="A9B4C2">
              <a:alpha val="20000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9936559" y="9888141"/>
            <a:ext cx="72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3751917" y="9888141"/>
            <a:ext cx="189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468 3D Landmarks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936559" y="10719991"/>
            <a:ext cx="5613400" cy="12700"/>
          </a:xfrm>
          <a:prstGeom prst="roundRect">
            <a:avLst>
              <a:gd name="adj" fmla="val 0"/>
            </a:avLst>
          </a:prstGeom>
          <a:solidFill>
            <a:srgbClr val="A9B4C2">
              <a:alpha val="2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9936559" y="10358041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Faces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4047986" y="10358041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(configurable)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9936559" y="11189891"/>
            <a:ext cx="5613400" cy="12700"/>
          </a:xfrm>
          <a:prstGeom prst="roundRect">
            <a:avLst>
              <a:gd name="adj" fmla="val 0"/>
            </a:avLst>
          </a:prstGeom>
          <a:solidFill>
            <a:srgbClr val="A9B4C2">
              <a:alpha val="20000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9936559" y="10827941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Iris Model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3837047" y="10827941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 (+10 pts)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936559" y="11659791"/>
            <a:ext cx="5613400" cy="12700"/>
          </a:xfrm>
          <a:prstGeom prst="roundRect">
            <a:avLst>
              <a:gd name="adj" fmla="val 0"/>
            </a:avLst>
          </a:prstGeom>
          <a:solidFill>
            <a:srgbClr val="A9B4C2">
              <a:alpha val="20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9936559" y="11297841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 Confidence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4351198" y="11297841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 (default)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9936559" y="11767741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Platforms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3814822" y="11767741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Web, iOS, Android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&amp;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Conductor Beat Detection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473200"/>
            <a:ext cx="1219200" cy="5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Shape 3"/>
          <p:cNvSpPr/>
          <p:nvPr/>
        </p:nvSpPr>
        <p:spPr>
          <a:xfrm>
            <a:off x="520700" y="1689100"/>
            <a:ext cx="7493000" cy="3937000"/>
          </a:xfrm>
          <a:prstGeom prst="roundRect">
            <a:avLst>
              <a:gd name="adj" fmla="val 2581"/>
            </a:avLst>
          </a:prstGeom>
          <a:gradFill rotWithShape="1" flip="none">
            <a:gsLst>
              <a:gs pos="0">
                <a:srgbClr val="82181A">
                  <a:alpha val="30000"/>
                </a:srgbClr>
              </a:gs>
              <a:gs pos="100000">
                <a:srgbClr val="9F0712">
                  <a:alpha val="20000"/>
                </a:srgbClr>
              </a:gs>
            </a:gsLst>
            <a:lin ang="2700000" scaled="1"/>
          </a:gradFill>
          <a:ln w="25400">
            <a:solidFill>
              <a:srgbClr val="FB2C36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600" y="1905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9000" y="205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012950"/>
            <a:ext cx="21844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A2A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717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" name="Text 8"/>
          <p:cNvSpPr/>
          <p:nvPr/>
        </p:nvSpPr>
        <p:spPr>
          <a:xfrm>
            <a:off x="1092200" y="2667000"/>
            <a:ext cx="680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 Drift: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Worship bands struggle to maintain consistent tempo during live performances, especially during extended worship sessions.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42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" y="3378200"/>
            <a:ext cx="680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Rigidity of Click Tracks: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Traditional metronomes lack flexibility for spontaneous worship moments, transitions, and dynamic tempo changes.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140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1092200" y="4089400"/>
            <a:ext cx="680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Load: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Musicians dividing attention between conductor, sheet music, and instrument leads to decreased musical quality.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851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" y="4800600"/>
            <a:ext cx="680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Hearing-impaired musicians cannot rely on auditory cues from conductors or click tracks.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5791200"/>
            <a:ext cx="7518400" cy="3149600"/>
          </a:xfrm>
          <a:prstGeom prst="roundRect">
            <a:avLst>
              <a:gd name="adj" fmla="val 3226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42950" y="605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19" name="Text 17"/>
          <p:cNvSpPr/>
          <p:nvPr/>
        </p:nvSpPr>
        <p:spPr>
          <a:xfrm>
            <a:off x="1003300" y="5994400"/>
            <a:ext cx="693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Targets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1200" y="6451600"/>
            <a:ext cx="3479800" cy="1066800"/>
          </a:xfrm>
          <a:prstGeom prst="roundRect">
            <a:avLst>
              <a:gd name="adj" fmla="val 9524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68350" y="6604000"/>
            <a:ext cx="336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95%+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9150" y="7112000"/>
            <a:ext cx="326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Beat Detection Accuracy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43400" y="6451600"/>
            <a:ext cx="3479800" cy="1066800"/>
          </a:xfrm>
          <a:prstGeom prst="roundRect">
            <a:avLst>
              <a:gd name="adj" fmla="val 9524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400550" y="6604000"/>
            <a:ext cx="336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51350" y="7112000"/>
            <a:ext cx="326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Latency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1200" y="7670800"/>
            <a:ext cx="3479800" cy="1066800"/>
          </a:xfrm>
          <a:prstGeom prst="roundRect">
            <a:avLst>
              <a:gd name="adj" fmla="val 9524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8350" y="7823200"/>
            <a:ext cx="336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 FPS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9150" y="8331200"/>
            <a:ext cx="326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Rate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43400" y="7670800"/>
            <a:ext cx="3479800" cy="1066800"/>
          </a:xfrm>
          <a:prstGeom prst="roundRect">
            <a:avLst>
              <a:gd name="adj" fmla="val 9524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400550" y="7823200"/>
            <a:ext cx="336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&lt;5%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51350" y="8331200"/>
            <a:ext cx="326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Positive Rate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42300" y="1689100"/>
            <a:ext cx="7493000" cy="3937000"/>
          </a:xfrm>
          <a:prstGeom prst="roundRect">
            <a:avLst>
              <a:gd name="adj" fmla="val 2581"/>
            </a:avLst>
          </a:prstGeom>
          <a:gradFill rotWithShape="1" flip="none">
            <a:gsLst>
              <a:gs pos="0">
                <a:srgbClr val="0D542B">
                  <a:alpha val="30000"/>
                </a:srgbClr>
              </a:gs>
              <a:gs pos="100000">
                <a:srgbClr val="016630">
                  <a:alpha val="20000"/>
                </a:srgbClr>
              </a:gs>
            </a:gsLst>
            <a:lin ang="2700000" scaled="1"/>
          </a:gradFill>
          <a:ln w="25400">
            <a:solidFill>
              <a:srgbClr val="00C950">
                <a:alpha val="5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58200" y="1905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610600" y="205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5" name="Text 33"/>
          <p:cNvSpPr/>
          <p:nvPr/>
        </p:nvSpPr>
        <p:spPr>
          <a:xfrm>
            <a:off x="9220200" y="2012950"/>
            <a:ext cx="19304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BF1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70900" y="2717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14300" y="12700"/>
                </a:moveTo>
                <a:cubicBezTo>
                  <a:pt x="82233" y="12700"/>
                  <a:pt x="56555" y="27305"/>
                  <a:pt x="37862" y="44688"/>
                </a:cubicBezTo>
                <a:cubicBezTo>
                  <a:pt x="19288" y="61952"/>
                  <a:pt x="6866" y="82550"/>
                  <a:pt x="953" y="96718"/>
                </a:cubicBezTo>
                <a:cubicBezTo>
                  <a:pt x="-357" y="99854"/>
                  <a:pt x="-357" y="103346"/>
                  <a:pt x="953" y="106482"/>
                </a:cubicBezTo>
                <a:cubicBezTo>
                  <a:pt x="6866" y="120650"/>
                  <a:pt x="19288" y="141288"/>
                  <a:pt x="37862" y="158512"/>
                </a:cubicBezTo>
                <a:cubicBezTo>
                  <a:pt x="56555" y="175855"/>
                  <a:pt x="82233" y="190500"/>
                  <a:pt x="114300" y="190500"/>
                </a:cubicBezTo>
                <a:cubicBezTo>
                  <a:pt x="146368" y="190500"/>
                  <a:pt x="172045" y="175895"/>
                  <a:pt x="190738" y="158512"/>
                </a:cubicBezTo>
                <a:cubicBezTo>
                  <a:pt x="209312" y="141248"/>
                  <a:pt x="221734" y="120650"/>
                  <a:pt x="227648" y="106482"/>
                </a:cubicBezTo>
                <a:cubicBezTo>
                  <a:pt x="228957" y="103346"/>
                  <a:pt x="228957" y="99854"/>
                  <a:pt x="227648" y="96718"/>
                </a:cubicBezTo>
                <a:cubicBezTo>
                  <a:pt x="221734" y="82550"/>
                  <a:pt x="209312" y="61912"/>
                  <a:pt x="190738" y="44688"/>
                </a:cubicBezTo>
                <a:cubicBezTo>
                  <a:pt x="172045" y="27345"/>
                  <a:pt x="146368" y="12700"/>
                  <a:pt x="114300" y="12700"/>
                </a:cubicBezTo>
                <a:close/>
                <a:moveTo>
                  <a:pt x="57150" y="101600"/>
                </a:moveTo>
                <a:cubicBezTo>
                  <a:pt x="57150" y="70058"/>
                  <a:pt x="82758" y="44450"/>
                  <a:pt x="114300" y="44450"/>
                </a:cubicBezTo>
                <a:cubicBezTo>
                  <a:pt x="145842" y="44450"/>
                  <a:pt x="171450" y="70058"/>
                  <a:pt x="171450" y="101600"/>
                </a:cubicBezTo>
                <a:cubicBezTo>
                  <a:pt x="171450" y="133142"/>
                  <a:pt x="145842" y="158750"/>
                  <a:pt x="114300" y="158750"/>
                </a:cubicBezTo>
                <a:cubicBezTo>
                  <a:pt x="82758" y="158750"/>
                  <a:pt x="57150" y="133142"/>
                  <a:pt x="57150" y="101600"/>
                </a:cubicBezTo>
                <a:close/>
                <a:moveTo>
                  <a:pt x="114300" y="76200"/>
                </a:moveTo>
                <a:cubicBezTo>
                  <a:pt x="114300" y="90210"/>
                  <a:pt x="102910" y="101600"/>
                  <a:pt x="88900" y="101600"/>
                </a:cubicBezTo>
                <a:cubicBezTo>
                  <a:pt x="84336" y="101600"/>
                  <a:pt x="80050" y="100409"/>
                  <a:pt x="76319" y="98266"/>
                </a:cubicBezTo>
                <a:cubicBezTo>
                  <a:pt x="75922" y="102592"/>
                  <a:pt x="76279" y="107037"/>
                  <a:pt x="77470" y="111443"/>
                </a:cubicBezTo>
                <a:cubicBezTo>
                  <a:pt x="82907" y="131763"/>
                  <a:pt x="103823" y="143828"/>
                  <a:pt x="124143" y="138390"/>
                </a:cubicBezTo>
                <a:cubicBezTo>
                  <a:pt x="144463" y="132953"/>
                  <a:pt x="156528" y="112038"/>
                  <a:pt x="151090" y="91718"/>
                </a:cubicBezTo>
                <a:cubicBezTo>
                  <a:pt x="146248" y="73581"/>
                  <a:pt x="129064" y="62032"/>
                  <a:pt x="110966" y="63619"/>
                </a:cubicBezTo>
                <a:cubicBezTo>
                  <a:pt x="113070" y="67310"/>
                  <a:pt x="114300" y="71596"/>
                  <a:pt x="114300" y="7620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7" name="Text 35"/>
          <p:cNvSpPr/>
          <p:nvPr/>
        </p:nvSpPr>
        <p:spPr>
          <a:xfrm>
            <a:off x="8813800" y="2667000"/>
            <a:ext cx="680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 MediaPipe Face Mesh to detect conductor blink patterns as natural rhythmic cues.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83600" y="342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85738" y="2778"/>
                </a:moveTo>
                <a:cubicBezTo>
                  <a:pt x="188754" y="5199"/>
                  <a:pt x="190500" y="8850"/>
                  <a:pt x="190500" y="12700"/>
                </a:cubicBezTo>
                <a:lnTo>
                  <a:pt x="190500" y="133350"/>
                </a:lnTo>
                <a:cubicBezTo>
                  <a:pt x="190500" y="150892"/>
                  <a:pt x="173434" y="165100"/>
                  <a:pt x="152400" y="165100"/>
                </a:cubicBezTo>
                <a:cubicBezTo>
                  <a:pt x="131366" y="165100"/>
                  <a:pt x="114300" y="150892"/>
                  <a:pt x="114300" y="133350"/>
                </a:cubicBezTo>
                <a:cubicBezTo>
                  <a:pt x="114300" y="115808"/>
                  <a:pt x="131366" y="101600"/>
                  <a:pt x="152400" y="101600"/>
                </a:cubicBezTo>
                <a:cubicBezTo>
                  <a:pt x="156845" y="101600"/>
                  <a:pt x="161131" y="102235"/>
                  <a:pt x="165100" y="103426"/>
                </a:cubicBezTo>
                <a:lnTo>
                  <a:pt x="165100" y="57110"/>
                </a:lnTo>
                <a:lnTo>
                  <a:pt x="76200" y="76875"/>
                </a:lnTo>
                <a:lnTo>
                  <a:pt x="76200" y="158750"/>
                </a:lnTo>
                <a:cubicBezTo>
                  <a:pt x="76200" y="176292"/>
                  <a:pt x="59134" y="190500"/>
                  <a:pt x="38100" y="190500"/>
                </a:cubicBezTo>
                <a:cubicBezTo>
                  <a:pt x="17066" y="190500"/>
                  <a:pt x="0" y="176292"/>
                  <a:pt x="0" y="158750"/>
                </a:cubicBezTo>
                <a:cubicBezTo>
                  <a:pt x="0" y="141208"/>
                  <a:pt x="17066" y="127000"/>
                  <a:pt x="38100" y="127000"/>
                </a:cubicBezTo>
                <a:cubicBezTo>
                  <a:pt x="42545" y="127000"/>
                  <a:pt x="46831" y="127635"/>
                  <a:pt x="50800" y="128826"/>
                </a:cubicBezTo>
                <a:lnTo>
                  <a:pt x="50800" y="38100"/>
                </a:lnTo>
                <a:cubicBezTo>
                  <a:pt x="50800" y="32147"/>
                  <a:pt x="54928" y="26988"/>
                  <a:pt x="60762" y="25717"/>
                </a:cubicBezTo>
                <a:lnTo>
                  <a:pt x="175062" y="317"/>
                </a:lnTo>
                <a:cubicBezTo>
                  <a:pt x="178832" y="-516"/>
                  <a:pt x="182761" y="397"/>
                  <a:pt x="185777" y="2818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9" name="Text 37"/>
          <p:cNvSpPr/>
          <p:nvPr/>
        </p:nvSpPr>
        <p:spPr>
          <a:xfrm>
            <a:off x="8813800" y="3378200"/>
            <a:ext cx="680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Non-Intrusive: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Blink detection provides tempo guidance without disrupting the conductor's natural style.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83600" y="4140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0540" y="76200"/>
                </a:moveTo>
                <a:lnTo>
                  <a:pt x="193675" y="76200"/>
                </a:lnTo>
                <a:cubicBezTo>
                  <a:pt x="198953" y="76200"/>
                  <a:pt x="203200" y="71953"/>
                  <a:pt x="203200" y="66675"/>
                </a:cubicBezTo>
                <a:lnTo>
                  <a:pt x="203200" y="9525"/>
                </a:lnTo>
                <a:cubicBezTo>
                  <a:pt x="203200" y="5675"/>
                  <a:pt x="200898" y="2183"/>
                  <a:pt x="197326" y="714"/>
                </a:cubicBezTo>
                <a:cubicBezTo>
                  <a:pt x="193754" y="-754"/>
                  <a:pt x="189667" y="79"/>
                  <a:pt x="186928" y="2778"/>
                </a:cubicBezTo>
                <a:lnTo>
                  <a:pt x="166410" y="23336"/>
                </a:lnTo>
                <a:cubicBezTo>
                  <a:pt x="148828" y="8771"/>
                  <a:pt x="126206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ubicBezTo>
                  <a:pt x="31433" y="53777"/>
                  <a:pt x="63222" y="25400"/>
                  <a:pt x="101600" y="25400"/>
                </a:cubicBezTo>
                <a:cubicBezTo>
                  <a:pt x="119221" y="25400"/>
                  <a:pt x="135414" y="31353"/>
                  <a:pt x="148312" y="41394"/>
                </a:cubicBezTo>
                <a:lnTo>
                  <a:pt x="129778" y="59928"/>
                </a:lnTo>
                <a:cubicBezTo>
                  <a:pt x="127040" y="62667"/>
                  <a:pt x="126246" y="66754"/>
                  <a:pt x="127714" y="70326"/>
                </a:cubicBezTo>
                <a:cubicBezTo>
                  <a:pt x="129183" y="73898"/>
                  <a:pt x="132675" y="76200"/>
                  <a:pt x="136525" y="76200"/>
                </a:cubicBezTo>
                <a:lnTo>
                  <a:pt x="190540" y="76200"/>
                </a:lnTo>
                <a:close/>
                <a:moveTo>
                  <a:pt x="202208" y="116086"/>
                </a:moveTo>
                <a:cubicBezTo>
                  <a:pt x="203200" y="109141"/>
                  <a:pt x="198358" y="102711"/>
                  <a:pt x="191452" y="101719"/>
                </a:cubicBezTo>
                <a:cubicBezTo>
                  <a:pt x="184547" y="100727"/>
                  <a:pt x="178078" y="105569"/>
                  <a:pt x="177086" y="112474"/>
                </a:cubicBezTo>
                <a:cubicBezTo>
                  <a:pt x="171807" y="149384"/>
                  <a:pt x="140017" y="177760"/>
                  <a:pt x="101640" y="177760"/>
                </a:cubicBezTo>
                <a:cubicBezTo>
                  <a:pt x="84018" y="177760"/>
                  <a:pt x="67826" y="171807"/>
                  <a:pt x="54928" y="161766"/>
                </a:cubicBezTo>
                <a:lnTo>
                  <a:pt x="73422" y="143272"/>
                </a:lnTo>
                <a:cubicBezTo>
                  <a:pt x="76160" y="140533"/>
                  <a:pt x="76954" y="136446"/>
                  <a:pt x="75486" y="132874"/>
                </a:cubicBezTo>
                <a:cubicBezTo>
                  <a:pt x="74017" y="129302"/>
                  <a:pt x="70525" y="127000"/>
                  <a:pt x="66675" y="127000"/>
                </a:cubicBezTo>
                <a:lnTo>
                  <a:pt x="9525" y="127000"/>
                </a:lnTo>
                <a:cubicBezTo>
                  <a:pt x="4247" y="127000"/>
                  <a:pt x="0" y="131247"/>
                  <a:pt x="0" y="136525"/>
                </a:cubicBezTo>
                <a:lnTo>
                  <a:pt x="0" y="193675"/>
                </a:lnTo>
                <a:cubicBezTo>
                  <a:pt x="0" y="197525"/>
                  <a:pt x="2302" y="201017"/>
                  <a:pt x="5874" y="202486"/>
                </a:cubicBezTo>
                <a:cubicBezTo>
                  <a:pt x="9446" y="203954"/>
                  <a:pt x="13533" y="203121"/>
                  <a:pt x="16272" y="200422"/>
                </a:cubicBezTo>
                <a:lnTo>
                  <a:pt x="36830" y="179864"/>
                </a:lnTo>
                <a:cubicBezTo>
                  <a:pt x="54372" y="194429"/>
                  <a:pt x="76994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1" name="Text 39"/>
          <p:cNvSpPr/>
          <p:nvPr/>
        </p:nvSpPr>
        <p:spPr>
          <a:xfrm>
            <a:off x="8813800" y="4089400"/>
            <a:ext cx="680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Adaptation: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 adapts to spontaneous tempo changes, ritardandos, and accelerandos in real-time.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83600" y="4851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  <a:moveTo>
                  <a:pt x="64095" y="67429"/>
                </a:moveTo>
                <a:cubicBezTo>
                  <a:pt x="59253" y="65365"/>
                  <a:pt x="53657" y="67588"/>
                  <a:pt x="51594" y="72430"/>
                </a:cubicBezTo>
                <a:cubicBezTo>
                  <a:pt x="49530" y="77272"/>
                  <a:pt x="51753" y="82868"/>
                  <a:pt x="56594" y="84931"/>
                </a:cubicBezTo>
                <a:lnTo>
                  <a:pt x="61317" y="86955"/>
                </a:lnTo>
                <a:cubicBezTo>
                  <a:pt x="68183" y="89892"/>
                  <a:pt x="75287" y="92075"/>
                  <a:pt x="82590" y="93424"/>
                </a:cubicBezTo>
                <a:lnTo>
                  <a:pt x="82590" y="113308"/>
                </a:lnTo>
                <a:cubicBezTo>
                  <a:pt x="82590" y="115014"/>
                  <a:pt x="82312" y="116721"/>
                  <a:pt x="81756" y="118308"/>
                </a:cubicBezTo>
                <a:lnTo>
                  <a:pt x="70366" y="152479"/>
                </a:lnTo>
                <a:cubicBezTo>
                  <a:pt x="68699" y="157480"/>
                  <a:pt x="71398" y="162878"/>
                  <a:pt x="76398" y="164544"/>
                </a:cubicBezTo>
                <a:cubicBezTo>
                  <a:pt x="81399" y="166211"/>
                  <a:pt x="86797" y="163513"/>
                  <a:pt x="88463" y="158512"/>
                </a:cubicBezTo>
                <a:lnTo>
                  <a:pt x="98147" y="129461"/>
                </a:lnTo>
                <a:cubicBezTo>
                  <a:pt x="98663" y="127953"/>
                  <a:pt x="100052" y="126921"/>
                  <a:pt x="101640" y="126921"/>
                </a:cubicBezTo>
                <a:cubicBezTo>
                  <a:pt x="103227" y="126921"/>
                  <a:pt x="104656" y="127953"/>
                  <a:pt x="105132" y="129461"/>
                </a:cubicBezTo>
                <a:lnTo>
                  <a:pt x="114816" y="158512"/>
                </a:lnTo>
                <a:cubicBezTo>
                  <a:pt x="116483" y="163513"/>
                  <a:pt x="121880" y="166211"/>
                  <a:pt x="126881" y="164544"/>
                </a:cubicBezTo>
                <a:cubicBezTo>
                  <a:pt x="131882" y="162878"/>
                  <a:pt x="134541" y="157559"/>
                  <a:pt x="132874" y="152559"/>
                </a:cubicBezTo>
                <a:lnTo>
                  <a:pt x="121483" y="118388"/>
                </a:lnTo>
                <a:cubicBezTo>
                  <a:pt x="120928" y="116761"/>
                  <a:pt x="120650" y="115094"/>
                  <a:pt x="120650" y="113387"/>
                </a:cubicBezTo>
                <a:lnTo>
                  <a:pt x="120650" y="93504"/>
                </a:lnTo>
                <a:cubicBezTo>
                  <a:pt x="127953" y="92115"/>
                  <a:pt x="135057" y="89972"/>
                  <a:pt x="141923" y="87035"/>
                </a:cubicBezTo>
                <a:lnTo>
                  <a:pt x="146645" y="85011"/>
                </a:lnTo>
                <a:cubicBezTo>
                  <a:pt x="151487" y="82947"/>
                  <a:pt x="153710" y="77351"/>
                  <a:pt x="151646" y="72509"/>
                </a:cubicBezTo>
                <a:cubicBezTo>
                  <a:pt x="149582" y="67667"/>
                  <a:pt x="143986" y="65445"/>
                  <a:pt x="139144" y="67508"/>
                </a:cubicBezTo>
                <a:lnTo>
                  <a:pt x="134422" y="69453"/>
                </a:lnTo>
                <a:cubicBezTo>
                  <a:pt x="124063" y="73898"/>
                  <a:pt x="112911" y="76200"/>
                  <a:pt x="101600" y="76200"/>
                </a:cubicBezTo>
                <a:cubicBezTo>
                  <a:pt x="90289" y="76200"/>
                  <a:pt x="79177" y="73898"/>
                  <a:pt x="68778" y="69453"/>
                </a:cubicBezTo>
                <a:lnTo>
                  <a:pt x="64056" y="67429"/>
                </a:lnTo>
                <a:close/>
                <a:moveTo>
                  <a:pt x="101600" y="63500"/>
                </a:moveTo>
                <a:cubicBezTo>
                  <a:pt x="110362" y="63500"/>
                  <a:pt x="117475" y="56387"/>
                  <a:pt x="117475" y="47625"/>
                </a:cubicBezTo>
                <a:cubicBezTo>
                  <a:pt x="117475" y="38863"/>
                  <a:pt x="110362" y="31750"/>
                  <a:pt x="101600" y="31750"/>
                </a:cubicBezTo>
                <a:cubicBezTo>
                  <a:pt x="92838" y="31750"/>
                  <a:pt x="85725" y="38863"/>
                  <a:pt x="85725" y="47625"/>
                </a:cubicBezTo>
                <a:cubicBezTo>
                  <a:pt x="85725" y="56387"/>
                  <a:pt x="92838" y="63500"/>
                  <a:pt x="101600" y="6350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3" name="Text 41"/>
          <p:cNvSpPr/>
          <p:nvPr/>
        </p:nvSpPr>
        <p:spPr>
          <a:xfrm>
            <a:off x="8813800" y="4800600"/>
            <a:ext cx="680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Visual beat detection enables hearing-impaired musicians to follow conductor cues.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29600" y="5791200"/>
            <a:ext cx="7518400" cy="4572000"/>
          </a:xfrm>
          <a:prstGeom prst="roundRect">
            <a:avLst>
              <a:gd name="adj" fmla="val 2222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35975" y="60579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46" name="Text 44"/>
          <p:cNvSpPr/>
          <p:nvPr/>
        </p:nvSpPr>
        <p:spPr>
          <a:xfrm>
            <a:off x="8724900" y="5994400"/>
            <a:ext cx="693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32800" y="65024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/>
        </p:spPr>
      </p:sp>
      <p:sp>
        <p:nvSpPr>
          <p:cNvPr id="48" name="Text 46"/>
          <p:cNvSpPr/>
          <p:nvPr/>
        </p:nvSpPr>
        <p:spPr>
          <a:xfrm>
            <a:off x="8597900" y="6578600"/>
            <a:ext cx="16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91600" y="6553200"/>
            <a:ext cx="316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 captures conductor's face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912600" y="70104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67231" y="199469"/>
                </a:moveTo>
                <a:cubicBezTo>
                  <a:pt x="72192" y="204430"/>
                  <a:pt x="80248" y="204430"/>
                  <a:pt x="85209" y="199469"/>
                </a:cubicBezTo>
                <a:lnTo>
                  <a:pt x="148709" y="135969"/>
                </a:lnTo>
                <a:cubicBezTo>
                  <a:pt x="153670" y="131008"/>
                  <a:pt x="153670" y="122952"/>
                  <a:pt x="148709" y="117991"/>
                </a:cubicBezTo>
                <a:cubicBezTo>
                  <a:pt x="143748" y="113030"/>
                  <a:pt x="135692" y="113030"/>
                  <a:pt x="130731" y="117991"/>
                </a:cubicBezTo>
                <a:lnTo>
                  <a:pt x="88900" y="159822"/>
                </a:lnTo>
                <a:lnTo>
                  <a:pt x="88900" y="12700"/>
                </a:lnTo>
                <a:cubicBezTo>
                  <a:pt x="88900" y="5675"/>
                  <a:pt x="83225" y="0"/>
                  <a:pt x="76200" y="0"/>
                </a:cubicBezTo>
                <a:cubicBezTo>
                  <a:pt x="69175" y="0"/>
                  <a:pt x="63500" y="5675"/>
                  <a:pt x="63500" y="12700"/>
                </a:cubicBezTo>
                <a:lnTo>
                  <a:pt x="63500" y="159822"/>
                </a:lnTo>
                <a:lnTo>
                  <a:pt x="21669" y="117991"/>
                </a:lnTo>
                <a:cubicBezTo>
                  <a:pt x="16708" y="113030"/>
                  <a:pt x="8652" y="113030"/>
                  <a:pt x="3691" y="117991"/>
                </a:cubicBezTo>
                <a:cubicBezTo>
                  <a:pt x="-1270" y="122952"/>
                  <a:pt x="-1270" y="131008"/>
                  <a:pt x="3691" y="135969"/>
                </a:cubicBezTo>
                <a:lnTo>
                  <a:pt x="67191" y="199469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1" name="Shape 49"/>
          <p:cNvSpPr/>
          <p:nvPr/>
        </p:nvSpPr>
        <p:spPr>
          <a:xfrm>
            <a:off x="8432800" y="7315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/>
        </p:spPr>
      </p:sp>
      <p:sp>
        <p:nvSpPr>
          <p:cNvPr id="52" name="Text 50"/>
          <p:cNvSpPr/>
          <p:nvPr/>
        </p:nvSpPr>
        <p:spPr>
          <a:xfrm>
            <a:off x="8581827" y="73914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991600" y="7366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detects 468 facial landmarks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912600" y="78232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67231" y="199469"/>
                </a:moveTo>
                <a:cubicBezTo>
                  <a:pt x="72192" y="204430"/>
                  <a:pt x="80248" y="204430"/>
                  <a:pt x="85209" y="199469"/>
                </a:cubicBezTo>
                <a:lnTo>
                  <a:pt x="148709" y="135969"/>
                </a:lnTo>
                <a:cubicBezTo>
                  <a:pt x="153670" y="131008"/>
                  <a:pt x="153670" y="122952"/>
                  <a:pt x="148709" y="117991"/>
                </a:cubicBezTo>
                <a:cubicBezTo>
                  <a:pt x="143748" y="113030"/>
                  <a:pt x="135692" y="113030"/>
                  <a:pt x="130731" y="117991"/>
                </a:cubicBezTo>
                <a:lnTo>
                  <a:pt x="88900" y="159822"/>
                </a:lnTo>
                <a:lnTo>
                  <a:pt x="88900" y="12700"/>
                </a:lnTo>
                <a:cubicBezTo>
                  <a:pt x="88900" y="5675"/>
                  <a:pt x="83225" y="0"/>
                  <a:pt x="76200" y="0"/>
                </a:cubicBezTo>
                <a:cubicBezTo>
                  <a:pt x="69175" y="0"/>
                  <a:pt x="63500" y="5675"/>
                  <a:pt x="63500" y="12700"/>
                </a:cubicBezTo>
                <a:lnTo>
                  <a:pt x="63500" y="159822"/>
                </a:lnTo>
                <a:lnTo>
                  <a:pt x="21669" y="117991"/>
                </a:lnTo>
                <a:cubicBezTo>
                  <a:pt x="16708" y="113030"/>
                  <a:pt x="8652" y="113030"/>
                  <a:pt x="3691" y="117991"/>
                </a:cubicBezTo>
                <a:cubicBezTo>
                  <a:pt x="-1270" y="122952"/>
                  <a:pt x="-1270" y="131008"/>
                  <a:pt x="3691" y="135969"/>
                </a:cubicBezTo>
                <a:lnTo>
                  <a:pt x="67191" y="199469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5" name="Shape 53"/>
          <p:cNvSpPr/>
          <p:nvPr/>
        </p:nvSpPr>
        <p:spPr>
          <a:xfrm>
            <a:off x="8432800" y="81280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/>
        </p:spPr>
      </p:sp>
      <p:sp>
        <p:nvSpPr>
          <p:cNvPr id="56" name="Text 54"/>
          <p:cNvSpPr/>
          <p:nvPr/>
        </p:nvSpPr>
        <p:spPr>
          <a:xfrm>
            <a:off x="8581033" y="82042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991600" y="81788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 algorithm detects blinks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912600" y="86360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67231" y="199469"/>
                </a:moveTo>
                <a:cubicBezTo>
                  <a:pt x="72192" y="204430"/>
                  <a:pt x="80248" y="204430"/>
                  <a:pt x="85209" y="199469"/>
                </a:cubicBezTo>
                <a:lnTo>
                  <a:pt x="148709" y="135969"/>
                </a:lnTo>
                <a:cubicBezTo>
                  <a:pt x="153670" y="131008"/>
                  <a:pt x="153670" y="122952"/>
                  <a:pt x="148709" y="117991"/>
                </a:cubicBezTo>
                <a:cubicBezTo>
                  <a:pt x="143748" y="113030"/>
                  <a:pt x="135692" y="113030"/>
                  <a:pt x="130731" y="117991"/>
                </a:cubicBezTo>
                <a:lnTo>
                  <a:pt x="88900" y="159822"/>
                </a:lnTo>
                <a:lnTo>
                  <a:pt x="88900" y="12700"/>
                </a:lnTo>
                <a:cubicBezTo>
                  <a:pt x="88900" y="5675"/>
                  <a:pt x="83225" y="0"/>
                  <a:pt x="76200" y="0"/>
                </a:cubicBezTo>
                <a:cubicBezTo>
                  <a:pt x="69175" y="0"/>
                  <a:pt x="63500" y="5675"/>
                  <a:pt x="63500" y="12700"/>
                </a:cubicBezTo>
                <a:lnTo>
                  <a:pt x="63500" y="159822"/>
                </a:lnTo>
                <a:lnTo>
                  <a:pt x="21669" y="117991"/>
                </a:lnTo>
                <a:cubicBezTo>
                  <a:pt x="16708" y="113030"/>
                  <a:pt x="8652" y="113030"/>
                  <a:pt x="3691" y="117991"/>
                </a:cubicBezTo>
                <a:cubicBezTo>
                  <a:pt x="-1270" y="122952"/>
                  <a:pt x="-1270" y="131008"/>
                  <a:pt x="3691" y="135969"/>
                </a:cubicBezTo>
                <a:lnTo>
                  <a:pt x="67191" y="199469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9" name="Shape 57"/>
          <p:cNvSpPr/>
          <p:nvPr/>
        </p:nvSpPr>
        <p:spPr>
          <a:xfrm>
            <a:off x="8432800" y="89408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/>
        </p:spPr>
      </p:sp>
      <p:sp>
        <p:nvSpPr>
          <p:cNvPr id="60" name="Text 58"/>
          <p:cNvSpPr/>
          <p:nvPr/>
        </p:nvSpPr>
        <p:spPr>
          <a:xfrm>
            <a:off x="8581033" y="90170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991600" y="8991600"/>
            <a:ext cx="326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Blink timestamps mapped to tempo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912600" y="94488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67231" y="199469"/>
                </a:moveTo>
                <a:cubicBezTo>
                  <a:pt x="72192" y="204430"/>
                  <a:pt x="80248" y="204430"/>
                  <a:pt x="85209" y="199469"/>
                </a:cubicBezTo>
                <a:lnTo>
                  <a:pt x="148709" y="135969"/>
                </a:lnTo>
                <a:cubicBezTo>
                  <a:pt x="153670" y="131008"/>
                  <a:pt x="153670" y="122952"/>
                  <a:pt x="148709" y="117991"/>
                </a:cubicBezTo>
                <a:cubicBezTo>
                  <a:pt x="143748" y="113030"/>
                  <a:pt x="135692" y="113030"/>
                  <a:pt x="130731" y="117991"/>
                </a:cubicBezTo>
                <a:lnTo>
                  <a:pt x="88900" y="159822"/>
                </a:lnTo>
                <a:lnTo>
                  <a:pt x="88900" y="12700"/>
                </a:lnTo>
                <a:cubicBezTo>
                  <a:pt x="88900" y="5675"/>
                  <a:pt x="83225" y="0"/>
                  <a:pt x="76200" y="0"/>
                </a:cubicBezTo>
                <a:cubicBezTo>
                  <a:pt x="69175" y="0"/>
                  <a:pt x="63500" y="5675"/>
                  <a:pt x="63500" y="12700"/>
                </a:cubicBezTo>
                <a:lnTo>
                  <a:pt x="63500" y="159822"/>
                </a:lnTo>
                <a:lnTo>
                  <a:pt x="21669" y="117991"/>
                </a:lnTo>
                <a:cubicBezTo>
                  <a:pt x="16708" y="113030"/>
                  <a:pt x="8652" y="113030"/>
                  <a:pt x="3691" y="117991"/>
                </a:cubicBezTo>
                <a:cubicBezTo>
                  <a:pt x="-1270" y="122952"/>
                  <a:pt x="-1270" y="131008"/>
                  <a:pt x="3691" y="135969"/>
                </a:cubicBezTo>
                <a:lnTo>
                  <a:pt x="67191" y="199469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63" name="Shape 61"/>
          <p:cNvSpPr/>
          <p:nvPr/>
        </p:nvSpPr>
        <p:spPr>
          <a:xfrm>
            <a:off x="8432800" y="97536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/>
        </p:spPr>
      </p:sp>
      <p:sp>
        <p:nvSpPr>
          <p:cNvPr id="64" name="Text 62"/>
          <p:cNvSpPr/>
          <p:nvPr/>
        </p:nvSpPr>
        <p:spPr>
          <a:xfrm>
            <a:off x="8582223" y="98298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991600" y="9804400"/>
            <a:ext cx="293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MIDI tempo events sent to band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Eye Aspect Ratio (EAR)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473200"/>
            <a:ext cx="1219200" cy="5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727200"/>
            <a:ext cx="8991600" cy="3924300"/>
          </a:xfrm>
          <a:custGeom>
            <a:avLst/>
            <a:gdLst/>
            <a:ahLst/>
            <a:cxnLst/>
            <a:rect l="l" t="t" r="r" b="b"/>
            <a:pathLst>
              <a:path w="8991600" h="39243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3822700"/>
                </a:lnTo>
                <a:cubicBezTo>
                  <a:pt x="8991600" y="3878775"/>
                  <a:pt x="8946075" y="3924300"/>
                  <a:pt x="8890000" y="3924300"/>
                </a:cubicBezTo>
                <a:lnTo>
                  <a:pt x="0" y="39243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727200"/>
            <a:ext cx="50800" cy="39243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7" name="Shape 5"/>
          <p:cNvSpPr/>
          <p:nvPr/>
        </p:nvSpPr>
        <p:spPr>
          <a:xfrm>
            <a:off x="793750" y="1981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1930400"/>
            <a:ext cx="836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Formula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350" y="2393950"/>
            <a:ext cx="8547100" cy="1727200"/>
          </a:xfrm>
          <a:prstGeom prst="roundRect">
            <a:avLst>
              <a:gd name="adj" fmla="val 5882"/>
            </a:avLst>
          </a:prstGeom>
          <a:solidFill>
            <a:srgbClr val="1A1D21">
              <a:alpha val="70196"/>
            </a:srgbClr>
          </a:solidFill>
          <a:ln w="12700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1700" y="2603500"/>
            <a:ext cx="82804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6F0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EAR = (||P₂-P₆|| + ||P₃-P₅||) / (2 × ||P₁-P₄||)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77900" y="3498850"/>
            <a:ext cx="8128000" cy="12700"/>
          </a:xfrm>
          <a:prstGeom prst="roundRect">
            <a:avLst>
              <a:gd name="adj" fmla="val 0"/>
            </a:avLst>
          </a:prstGeom>
          <a:solidFill>
            <a:srgbClr val="A9B4C2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27100" y="3606800"/>
            <a:ext cx="822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||x|| represents Euclidean distance between landmarks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279900"/>
            <a:ext cx="4203700" cy="1168400"/>
          </a:xfrm>
          <a:prstGeom prst="roundRect">
            <a:avLst>
              <a:gd name="adj" fmla="val 869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3230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Vertical Eye Height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787900"/>
            <a:ext cx="3987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P2↔P6 and P3↔P5 measure vertical distances between upper and lower eyelids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20680" y="4279900"/>
            <a:ext cx="4203700" cy="1168400"/>
          </a:xfrm>
          <a:prstGeom prst="roundRect">
            <a:avLst>
              <a:gd name="adj" fmla="val 869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273080" y="443230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Horizontal Eye Width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73080" y="4787900"/>
            <a:ext cx="3987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P1↔P4 measures horizontal distance between eye corners (normalization factor)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5803900"/>
            <a:ext cx="8991600" cy="2286000"/>
          </a:xfrm>
          <a:custGeom>
            <a:avLst/>
            <a:gdLst/>
            <a:ahLst/>
            <a:cxnLst/>
            <a:rect l="l" t="t" r="r" b="b"/>
            <a:pathLst>
              <a:path w="8991600" h="22860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2184400"/>
                </a:lnTo>
                <a:cubicBezTo>
                  <a:pt x="8991600" y="2240475"/>
                  <a:pt x="8946075" y="2286000"/>
                  <a:pt x="8890000" y="2286000"/>
                </a:cubicBez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33400" y="5803900"/>
            <a:ext cx="50800" cy="2286000"/>
          </a:xfrm>
          <a:prstGeom prst="roundRect">
            <a:avLst>
              <a:gd name="adj" fmla="val 0"/>
            </a:avLst>
          </a:prstGeom>
          <a:solidFill>
            <a:srgbClr val="A9B4C2"/>
          </a:solidFill>
          <a:ln/>
        </p:spPr>
      </p:sp>
      <p:sp>
        <p:nvSpPr>
          <p:cNvPr id="21" name="Shape 19"/>
          <p:cNvSpPr/>
          <p:nvPr/>
        </p:nvSpPr>
        <p:spPr>
          <a:xfrm>
            <a:off x="793750" y="6057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" y="6007100"/>
            <a:ext cx="836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 Value Interpretation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464300"/>
            <a:ext cx="2755900" cy="1422400"/>
          </a:xfrm>
          <a:prstGeom prst="roundRect">
            <a:avLst>
              <a:gd name="adj" fmla="val 7143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19150" y="6616700"/>
            <a:ext cx="264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5D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0.30-0.40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600" y="71247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Eyes Open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9950" y="74803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alert state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67720" y="6464300"/>
            <a:ext cx="2755900" cy="1422400"/>
          </a:xfrm>
          <a:prstGeom prst="roundRect">
            <a:avLst>
              <a:gd name="adj" fmla="val 7143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724870" y="6616700"/>
            <a:ext cx="264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DC7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0.20-0.25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69320" y="71247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Threshold Zone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775670" y="74803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 region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73441" y="6464300"/>
            <a:ext cx="2755900" cy="1422400"/>
          </a:xfrm>
          <a:prstGeom prst="roundRect">
            <a:avLst>
              <a:gd name="adj" fmla="val 7143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630591" y="6616700"/>
            <a:ext cx="264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0.15-0.20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041" y="7124700"/>
            <a:ext cx="255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Eyes Closed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81391" y="74803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Blink detected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3400" y="8242300"/>
            <a:ext cx="8991600" cy="2844800"/>
          </a:xfrm>
          <a:custGeom>
            <a:avLst/>
            <a:gdLst/>
            <a:ahLst/>
            <a:cxnLst/>
            <a:rect l="l" t="t" r="r" b="b"/>
            <a:pathLst>
              <a:path w="8991600" h="28448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2743200"/>
                </a:lnTo>
                <a:cubicBezTo>
                  <a:pt x="8991600" y="2799275"/>
                  <a:pt x="8946075" y="2844800"/>
                  <a:pt x="8890000" y="2844800"/>
                </a:cubicBezTo>
                <a:lnTo>
                  <a:pt x="0" y="28448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33400" y="8242300"/>
            <a:ext cx="50800" cy="2844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37" name="Shape 35"/>
          <p:cNvSpPr/>
          <p:nvPr/>
        </p:nvSpPr>
        <p:spPr>
          <a:xfrm>
            <a:off x="793750" y="8496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38" name="Text 36"/>
          <p:cNvSpPr/>
          <p:nvPr/>
        </p:nvSpPr>
        <p:spPr>
          <a:xfrm>
            <a:off x="1079500" y="8445500"/>
            <a:ext cx="836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Robustness Features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87400" y="8953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0" name="Text 38"/>
          <p:cNvSpPr/>
          <p:nvPr/>
        </p:nvSpPr>
        <p:spPr>
          <a:xfrm>
            <a:off x="1117600" y="8902700"/>
            <a:ext cx="3949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Eyes Averaged: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(EAR_left + EAR_right) / 2 reduces individual eye anomalies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46080" y="8953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2" name="Text 40"/>
          <p:cNvSpPr/>
          <p:nvPr/>
        </p:nvSpPr>
        <p:spPr>
          <a:xfrm>
            <a:off x="5476280" y="8902700"/>
            <a:ext cx="3949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Consecutive Frame Logic: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Requires 3-5 frames below threshold to confirm blink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87400" y="10020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4" name="Text 42"/>
          <p:cNvSpPr/>
          <p:nvPr/>
        </p:nvSpPr>
        <p:spPr>
          <a:xfrm>
            <a:off x="1117600" y="9969500"/>
            <a:ext cx="3949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Person-Independent: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Ratio-based calculation insensitive to face distance and angle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146080" y="10020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6" name="Text 44"/>
          <p:cNvSpPr/>
          <p:nvPr/>
        </p:nvSpPr>
        <p:spPr>
          <a:xfrm>
            <a:off x="5476280" y="9969500"/>
            <a:ext cx="3949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Processing: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EAR computed in &lt;1ms per frame on modern hardware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733359" y="1727200"/>
            <a:ext cx="6019800" cy="7937500"/>
          </a:xfrm>
          <a:prstGeom prst="roundRect">
            <a:avLst>
              <a:gd name="adj" fmla="val 1688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879409" y="1930400"/>
            <a:ext cx="572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6-Point Eye Landmarks</a:t>
            </a:r>
            <a:endParaRPr lang="en-US" sz="1600" dirty="0"/>
          </a:p>
        </p:txBody>
      </p:sp>
      <p:pic>
        <p:nvPicPr>
          <p:cNvPr id="49" name="Image 0" descr="https://kimi-web-img.moonshot.cn/img/raw.githubusercontent.com/a16920fc0a059429e6874580298d555fa1a634d6.png">    </p:cNvPr>
          <p:cNvPicPr>
            <a:picLocks noChangeAspect="1"/>
          </p:cNvPicPr>
          <p:nvPr/>
        </p:nvPicPr>
        <p:blipFill>
          <a:blip r:embed="rId1"/>
          <a:srcRect l="0" r="0" t="41" b="41"/>
          <a:stretch/>
        </p:blipFill>
        <p:spPr>
          <a:xfrm>
            <a:off x="9936559" y="2438400"/>
            <a:ext cx="5562600" cy="6616700"/>
          </a:xfrm>
          <a:prstGeom prst="roundRect">
            <a:avLst>
              <a:gd name="adj" fmla="val 1826"/>
            </a:avLst>
          </a:prstGeom>
        </p:spPr>
      </p:pic>
      <p:sp>
        <p:nvSpPr>
          <p:cNvPr id="50" name="Text 47"/>
          <p:cNvSpPr/>
          <p:nvPr/>
        </p:nvSpPr>
        <p:spPr>
          <a:xfrm>
            <a:off x="9892109" y="9206706"/>
            <a:ext cx="570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Dlib 68-point model (subset for EAR)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9733359" y="9816306"/>
            <a:ext cx="6019800" cy="5080000"/>
          </a:xfrm>
          <a:prstGeom prst="roundRect">
            <a:avLst>
              <a:gd name="adj" fmla="val 2000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9936559" y="10019506"/>
            <a:ext cx="572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 Threshold Guidelines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936559" y="10527506"/>
            <a:ext cx="5613400" cy="965200"/>
          </a:xfrm>
          <a:prstGeom prst="roundRect">
            <a:avLst>
              <a:gd name="adj" fmla="val 1052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10088959" y="10705306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Threshold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4849673" y="10679906"/>
            <a:ext cx="67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0.25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0088959" y="11086306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Effective for most individuals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9936559" y="11594306"/>
            <a:ext cx="5613400" cy="965200"/>
          </a:xfrm>
          <a:prstGeom prst="roundRect">
            <a:avLst>
              <a:gd name="adj" fmla="val 1052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10088959" y="11772106"/>
            <a:ext cx="1282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Conservative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4833997" y="11746706"/>
            <a:ext cx="68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0.20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10088959" y="12153106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Fewer false positives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9936559" y="12661106"/>
            <a:ext cx="5613400" cy="965200"/>
          </a:xfrm>
          <a:prstGeom prst="roundRect">
            <a:avLst>
              <a:gd name="adj" fmla="val 1052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10088959" y="12838906"/>
            <a:ext cx="92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14885988" y="12813506"/>
            <a:ext cx="63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0.18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0088959" y="13219906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accuracy, more false positives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9936559" y="13727906"/>
            <a:ext cx="5613400" cy="965200"/>
          </a:xfrm>
          <a:prstGeom prst="roundRect">
            <a:avLst>
              <a:gd name="adj" fmla="val 1052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088959" y="13905706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Modified EAR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14354175" y="13880306"/>
            <a:ext cx="116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0088959" y="14286706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Calibrated per individual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DETAILS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Critical Landmark Indices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473200"/>
            <a:ext cx="1219200" cy="5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727200"/>
            <a:ext cx="8991600" cy="4241800"/>
          </a:xfrm>
          <a:custGeom>
            <a:avLst/>
            <a:gdLst/>
            <a:ahLst/>
            <a:cxnLst/>
            <a:rect l="l" t="t" r="r" b="b"/>
            <a:pathLst>
              <a:path w="8991600" h="42418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4140200"/>
                </a:lnTo>
                <a:cubicBezTo>
                  <a:pt x="8991600" y="4196275"/>
                  <a:pt x="8946075" y="4241800"/>
                  <a:pt x="8890000" y="4241800"/>
                </a:cubicBezTo>
                <a:lnTo>
                  <a:pt x="0" y="42418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727200"/>
            <a:ext cx="50800" cy="4241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9304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Face Mesh Landmark Map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38400"/>
            <a:ext cx="8661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provides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468 3D landmarks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indexed 0-467. For blink detection, we focus on 6 key landmarks per eye (12 total) plus 10 iris landmarks for enhanced precision.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350" y="3206750"/>
            <a:ext cx="4191000" cy="2552700"/>
          </a:xfrm>
          <a:prstGeom prst="roundRect">
            <a:avLst>
              <a:gd name="adj" fmla="val 3980"/>
            </a:avLst>
          </a:prstGeom>
          <a:solidFill>
            <a:srgbClr val="1A1D21">
              <a:alpha val="70196"/>
            </a:srgbClr>
          </a:solidFill>
          <a:ln w="12700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4563" y="3429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3365500"/>
            <a:ext cx="369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Left Eye (12 pts)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7100" y="382270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Outer Corner (P1)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63442" y="38227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#362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7100" y="4127500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Upper Outer (P2)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63442" y="41275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#380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100" y="44323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Upper Inner (P3)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63442" y="44323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#374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7100" y="4737100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Corner (P4)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63442" y="47371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#263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7100" y="50419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Inner (P5)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63442" y="50419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#386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7100" y="5346700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Outer (P6)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63442" y="53467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#385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27030" y="3206750"/>
            <a:ext cx="4191000" cy="2552700"/>
          </a:xfrm>
          <a:prstGeom prst="roundRect">
            <a:avLst>
              <a:gd name="adj" fmla="val 3980"/>
            </a:avLst>
          </a:prstGeom>
          <a:solidFill>
            <a:srgbClr val="1A1D21">
              <a:alpha val="70196"/>
            </a:srgbClr>
          </a:solidFill>
          <a:ln w="12700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242" y="3429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80" y="3365500"/>
            <a:ext cx="369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Right Eye (12 pts)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5780" y="382270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Outer Corner (P1)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32056" y="3822700"/>
            <a:ext cx="41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#33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85780" y="4127500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Upper Outer (P2)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22122" y="41275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#159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85780" y="44323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Upper Inner (P3)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22122" y="44323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#158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85780" y="4737100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Corner (P4)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22122" y="47371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#133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85780" y="50419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Inner (P5)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22122" y="50419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#153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85780" y="5346700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Outer (P6)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22122" y="53467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#145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3400" y="6121400"/>
            <a:ext cx="8991600" cy="2184400"/>
          </a:xfrm>
          <a:custGeom>
            <a:avLst/>
            <a:gdLst/>
            <a:ahLst/>
            <a:cxnLst/>
            <a:rect l="l" t="t" r="r" b="b"/>
            <a:pathLst>
              <a:path w="8991600" h="21844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2082800"/>
                </a:lnTo>
                <a:cubicBezTo>
                  <a:pt x="8991600" y="2138875"/>
                  <a:pt x="8946075" y="2184400"/>
                  <a:pt x="8890000" y="2184400"/>
                </a:cubicBezTo>
                <a:lnTo>
                  <a:pt x="0" y="21844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33400" y="6121400"/>
            <a:ext cx="50800" cy="2184400"/>
          </a:xfrm>
          <a:prstGeom prst="roundRect">
            <a:avLst>
              <a:gd name="adj" fmla="val 0"/>
            </a:avLst>
          </a:prstGeom>
          <a:solidFill>
            <a:srgbClr val="A9B4C2"/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63246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Iris Landmarks (Enhanced Precision)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2000" y="6781800"/>
            <a:ext cx="866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refineLandmarks: true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MediaPipe adds 10 iris landmarks (5 per eye) at indices 468-477: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2000" y="7188200"/>
            <a:ext cx="4203700" cy="914400"/>
          </a:xfrm>
          <a:prstGeom prst="roundRect">
            <a:avLst>
              <a:gd name="adj" fmla="val 11111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734060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Left Iris: 468-472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4400" y="7696200"/>
            <a:ext cx="398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Center, left, top, right, bottom points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20680" y="7188200"/>
            <a:ext cx="4203700" cy="914400"/>
          </a:xfrm>
          <a:prstGeom prst="roundRect">
            <a:avLst>
              <a:gd name="adj" fmla="val 11111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273080" y="7340600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Right Iris: 473-477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273080" y="7696200"/>
            <a:ext cx="398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Center, left, top, right, bottom points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733359" y="1727200"/>
            <a:ext cx="6019800" cy="5003800"/>
          </a:xfrm>
          <a:prstGeom prst="roundRect">
            <a:avLst>
              <a:gd name="adj" fmla="val 2030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879409" y="1930400"/>
            <a:ext cx="572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Landmark Visualization</a:t>
            </a:r>
            <a:endParaRPr lang="en-US" sz="1600" dirty="0"/>
          </a:p>
        </p:txBody>
      </p:sp>
      <p:pic>
        <p:nvPicPr>
          <p:cNvPr id="51" name="Image 0" descr="https://kimi-web-img.moonshot.cn/img/learn.microsoft.com/54eade49ea2e07bafe5ba2e6aa6a29bfb665400b.jpg">    </p:cNvPr>
          <p:cNvPicPr>
            <a:picLocks noChangeAspect="1"/>
          </p:cNvPicPr>
          <p:nvPr/>
        </p:nvPicPr>
        <p:blipFill>
          <a:blip r:embed="rId1"/>
          <a:srcRect l="0" r="0" t="91" b="91"/>
          <a:stretch/>
        </p:blipFill>
        <p:spPr>
          <a:xfrm>
            <a:off x="9936559" y="2438400"/>
            <a:ext cx="5562600" cy="3683000"/>
          </a:xfrm>
          <a:prstGeom prst="roundRect">
            <a:avLst>
              <a:gd name="adj" fmla="val 2759"/>
            </a:avLst>
          </a:prstGeom>
        </p:spPr>
      </p:pic>
      <p:sp>
        <p:nvSpPr>
          <p:cNvPr id="52" name="Text 49"/>
          <p:cNvSpPr/>
          <p:nvPr/>
        </p:nvSpPr>
        <p:spPr>
          <a:xfrm>
            <a:off x="9892109" y="6276975"/>
            <a:ext cx="570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Annotated facial landmark positions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733359" y="6886575"/>
            <a:ext cx="6019800" cy="4064000"/>
          </a:xfrm>
          <a:prstGeom prst="roundRect">
            <a:avLst>
              <a:gd name="adj" fmla="val 2500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9936559" y="7089775"/>
            <a:ext cx="572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Configuration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9936559" y="7597775"/>
            <a:ext cx="5613400" cy="1879600"/>
          </a:xfrm>
          <a:prstGeom prst="roundRect">
            <a:avLst>
              <a:gd name="adj" fmla="val 5405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10088959" y="7750175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FaceMesh Options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0088959" y="8156575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maxNumFaces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5321161" y="8156575"/>
            <a:ext cx="16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0088959" y="8461375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refineLandmarks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15078472" y="8461375"/>
            <a:ext cx="40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10088959" y="8766175"/>
            <a:ext cx="205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minDetectionConfidence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5135622" y="8766175"/>
            <a:ext cx="34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10088959" y="9070975"/>
            <a:ext cx="196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minTrackingConfidence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5135622" y="9070975"/>
            <a:ext cx="34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9936559" y="9578975"/>
            <a:ext cx="5613400" cy="1168400"/>
          </a:xfrm>
          <a:prstGeom prst="roundRect">
            <a:avLst>
              <a:gd name="adj" fmla="val 869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088959" y="9731375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10088959" y="10086975"/>
            <a:ext cx="539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image mode disabled for video stream processing with temporal filtering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Real-Time Processing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473200"/>
            <a:ext cx="1219200" cy="5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1676400"/>
            <a:ext cx="15240000" cy="5054600"/>
          </a:xfrm>
          <a:prstGeom prst="roundRect">
            <a:avLst>
              <a:gd name="adj" fmla="val 2010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1200" y="1879600"/>
            <a:ext cx="149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7-Stage Processing Pipeline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3900" y="2400300"/>
            <a:ext cx="3289300" cy="1790700"/>
          </a:xfrm>
          <a:prstGeom prst="roundRect">
            <a:avLst>
              <a:gd name="adj" fmla="val 5674"/>
            </a:avLst>
          </a:prstGeom>
          <a:gradFill rotWithShape="1" flip="none">
            <a:gsLst>
              <a:gs pos="0">
                <a:srgbClr val="E6F0F3">
                  <a:alpha val="20000"/>
                </a:srgbClr>
              </a:gs>
              <a:gs pos="100000">
                <a:srgbClr val="E6F0F3">
                  <a:alpha val="10000"/>
                </a:srgbClr>
              </a:gs>
            </a:gsLst>
            <a:lin ang="5400000" scaled="1"/>
          </a:gradFill>
          <a:ln w="25400">
            <a:solidFill>
              <a:srgbClr val="E6F0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16138" y="2565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/>
        </p:spPr>
      </p:sp>
      <p:sp>
        <p:nvSpPr>
          <p:cNvPr id="9" name="Text 7"/>
          <p:cNvSpPr/>
          <p:nvPr/>
        </p:nvSpPr>
        <p:spPr>
          <a:xfrm>
            <a:off x="2263973" y="2641600"/>
            <a:ext cx="21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" y="31750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Capture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4550" y="3530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Webcam/USB @ 30 FPS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900" y="3835400"/>
            <a:ext cx="303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6EB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&lt;1ms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62425" y="31686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62475" y="2400300"/>
            <a:ext cx="3289300" cy="1790700"/>
          </a:xfrm>
          <a:prstGeom prst="roundRect">
            <a:avLst>
              <a:gd name="adj" fmla="val 5674"/>
            </a:avLst>
          </a:prstGeom>
          <a:gradFill rotWithShape="1" flip="none">
            <a:gsLst>
              <a:gs pos="0">
                <a:srgbClr val="A9B4C2">
                  <a:alpha val="20000"/>
                </a:srgbClr>
              </a:gs>
              <a:gs pos="100000">
                <a:srgbClr val="A9B4C2">
                  <a:alpha val="10000"/>
                </a:srgbClr>
              </a:gs>
            </a:gsLst>
            <a:lin ang="5400000" scaled="1"/>
          </a:gradFill>
          <a:ln w="25400">
            <a:solidFill>
              <a:srgbClr val="A9B4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54713" y="2565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A9B4C2"/>
          </a:solidFill>
          <a:ln/>
        </p:spPr>
      </p:sp>
      <p:sp>
        <p:nvSpPr>
          <p:cNvPr id="16" name="Text 14"/>
          <p:cNvSpPr/>
          <p:nvPr/>
        </p:nvSpPr>
        <p:spPr>
          <a:xfrm>
            <a:off x="6081911" y="26416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76775" y="31750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83125" y="3530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Detector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89475" y="3835400"/>
            <a:ext cx="303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6EB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~5ms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31686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1050" y="2400300"/>
            <a:ext cx="3289300" cy="1790700"/>
          </a:xfrm>
          <a:prstGeom prst="roundRect">
            <a:avLst>
              <a:gd name="adj" fmla="val 5674"/>
            </a:avLst>
          </a:prstGeom>
          <a:gradFill rotWithShape="1" flip="none">
            <a:gsLst>
              <a:gs pos="0">
                <a:srgbClr val="E6F0F3">
                  <a:alpha val="20000"/>
                </a:srgbClr>
              </a:gs>
              <a:gs pos="100000">
                <a:srgbClr val="E6F0F3">
                  <a:alpha val="10000"/>
                </a:srgbClr>
              </a:gs>
            </a:gsLst>
            <a:lin ang="5400000" scaled="1"/>
          </a:gradFill>
          <a:ln w="25400">
            <a:solidFill>
              <a:srgbClr val="E6F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93288" y="2565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/>
        </p:spPr>
      </p:sp>
      <p:sp>
        <p:nvSpPr>
          <p:cNvPr id="23" name="Text 21"/>
          <p:cNvSpPr/>
          <p:nvPr/>
        </p:nvSpPr>
        <p:spPr>
          <a:xfrm>
            <a:off x="9919494" y="26416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15350" y="31750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Landmark Regression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21700" y="3530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468 3D Landmarks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28050" y="3835400"/>
            <a:ext cx="303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6EB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~10ms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839575" y="31686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8" name="Shape 26"/>
          <p:cNvSpPr/>
          <p:nvPr/>
        </p:nvSpPr>
        <p:spPr>
          <a:xfrm>
            <a:off x="12239625" y="2400300"/>
            <a:ext cx="3289300" cy="1790700"/>
          </a:xfrm>
          <a:prstGeom prst="roundRect">
            <a:avLst>
              <a:gd name="adj" fmla="val 5674"/>
            </a:avLst>
          </a:prstGeom>
          <a:gradFill rotWithShape="1" flip="none">
            <a:gsLst>
              <a:gs pos="0">
                <a:srgbClr val="A9B4C2">
                  <a:alpha val="20000"/>
                </a:srgbClr>
              </a:gs>
              <a:gs pos="100000">
                <a:srgbClr val="A9B4C2">
                  <a:alpha val="10000"/>
                </a:srgbClr>
              </a:gs>
            </a:gsLst>
            <a:lin ang="5400000" scaled="1"/>
          </a:gradFill>
          <a:ln w="25400">
            <a:solidFill>
              <a:srgbClr val="A9B4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631863" y="2565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A9B4C2"/>
          </a:solidFill>
          <a:ln/>
        </p:spPr>
      </p:sp>
      <p:sp>
        <p:nvSpPr>
          <p:cNvPr id="30" name="Text 28"/>
          <p:cNvSpPr/>
          <p:nvPr/>
        </p:nvSpPr>
        <p:spPr>
          <a:xfrm>
            <a:off x="13758069" y="26416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53925" y="3175000"/>
            <a:ext cx="306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 Calculation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60275" y="35306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Eyes Averaged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366625" y="3835400"/>
            <a:ext cx="303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6EB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&lt;1ms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13700" y="43053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5" name="Shape 33"/>
          <p:cNvSpPr/>
          <p:nvPr/>
        </p:nvSpPr>
        <p:spPr>
          <a:xfrm>
            <a:off x="723900" y="4724400"/>
            <a:ext cx="4572000" cy="1790700"/>
          </a:xfrm>
          <a:prstGeom prst="roundRect">
            <a:avLst>
              <a:gd name="adj" fmla="val 5674"/>
            </a:avLst>
          </a:prstGeom>
          <a:gradFill rotWithShape="1" flip="none">
            <a:gsLst>
              <a:gs pos="0">
                <a:srgbClr val="E6F0F3">
                  <a:alpha val="20000"/>
                </a:srgbClr>
              </a:gs>
              <a:gs pos="100000">
                <a:srgbClr val="E6F0F3">
                  <a:alpha val="10000"/>
                </a:srgbClr>
              </a:gs>
            </a:gsLst>
            <a:lin ang="5400000" scaled="1"/>
          </a:gradFill>
          <a:ln w="25400">
            <a:solidFill>
              <a:srgbClr val="E6F0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55900" y="4889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/>
        </p:spPr>
      </p:sp>
      <p:sp>
        <p:nvSpPr>
          <p:cNvPr id="37" name="Text 35"/>
          <p:cNvSpPr/>
          <p:nvPr/>
        </p:nvSpPr>
        <p:spPr>
          <a:xfrm>
            <a:off x="2883694" y="49657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8200" y="54991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Blink Detection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4550" y="58547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Threshold + Frames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0900" y="6159500"/>
            <a:ext cx="431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6EB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&lt;1ms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41950" y="5492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2" name="Shape 40"/>
          <p:cNvSpPr/>
          <p:nvPr/>
        </p:nvSpPr>
        <p:spPr>
          <a:xfrm>
            <a:off x="5842000" y="4724400"/>
            <a:ext cx="4572000" cy="1790700"/>
          </a:xfrm>
          <a:prstGeom prst="roundRect">
            <a:avLst>
              <a:gd name="adj" fmla="val 5674"/>
            </a:avLst>
          </a:prstGeom>
          <a:gradFill rotWithShape="1" flip="none">
            <a:gsLst>
              <a:gs pos="0">
                <a:srgbClr val="A9B4C2">
                  <a:alpha val="20000"/>
                </a:srgbClr>
              </a:gs>
              <a:gs pos="100000">
                <a:srgbClr val="A9B4C2">
                  <a:alpha val="10000"/>
                </a:srgbClr>
              </a:gs>
            </a:gsLst>
            <a:lin ang="5400000" scaled="1"/>
          </a:gradFill>
          <a:ln w="25400">
            <a:solidFill>
              <a:srgbClr val="A9B4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74000" y="4889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A9B4C2"/>
          </a:solidFill>
          <a:ln/>
        </p:spPr>
      </p:sp>
      <p:sp>
        <p:nvSpPr>
          <p:cNvPr id="44" name="Text 42"/>
          <p:cNvSpPr/>
          <p:nvPr/>
        </p:nvSpPr>
        <p:spPr>
          <a:xfrm>
            <a:off x="7999214" y="49657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956300" y="54991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Beat Mapping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962650" y="58547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Timestamps → BPM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969000" y="6159500"/>
            <a:ext cx="431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6EB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&lt;1ms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560050" y="54927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9" name="Shape 47"/>
          <p:cNvSpPr/>
          <p:nvPr/>
        </p:nvSpPr>
        <p:spPr>
          <a:xfrm>
            <a:off x="10960100" y="4724400"/>
            <a:ext cx="4572000" cy="1790700"/>
          </a:xfrm>
          <a:prstGeom prst="roundRect">
            <a:avLst>
              <a:gd name="adj" fmla="val 5674"/>
            </a:avLst>
          </a:prstGeom>
          <a:gradFill rotWithShape="1" flip="none">
            <a:gsLst>
              <a:gs pos="0">
                <a:srgbClr val="E6F0F3">
                  <a:alpha val="20000"/>
                </a:srgbClr>
              </a:gs>
              <a:gs pos="100000">
                <a:srgbClr val="E6F0F3">
                  <a:alpha val="10000"/>
                </a:srgbClr>
              </a:gs>
            </a:gsLst>
            <a:lin ang="5400000" scaled="1"/>
          </a:gradFill>
          <a:ln w="25400">
            <a:solidFill>
              <a:srgbClr val="E6F0F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992100" y="4889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6F0F3"/>
          </a:solidFill>
          <a:ln/>
        </p:spPr>
      </p:sp>
      <p:sp>
        <p:nvSpPr>
          <p:cNvPr id="51" name="Text 49"/>
          <p:cNvSpPr/>
          <p:nvPr/>
        </p:nvSpPr>
        <p:spPr>
          <a:xfrm>
            <a:off x="13127236" y="4965700"/>
            <a:ext cx="24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074400" y="54991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MIDI Output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80750" y="58547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 Events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087100" y="6159500"/>
            <a:ext cx="431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6EB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&lt;5ms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33400" y="6883400"/>
            <a:ext cx="4953000" cy="1930400"/>
          </a:xfrm>
          <a:custGeom>
            <a:avLst/>
            <a:gdLst/>
            <a:ahLst/>
            <a:cxnLst/>
            <a:rect l="l" t="t" r="r" b="b"/>
            <a:pathLst>
              <a:path w="4953000" h="1930400">
                <a:moveTo>
                  <a:pt x="0" y="0"/>
                </a:moveTo>
                <a:lnTo>
                  <a:pt x="4851400" y="0"/>
                </a:lnTo>
                <a:cubicBezTo>
                  <a:pt x="4907475" y="0"/>
                  <a:pt x="4953000" y="45525"/>
                  <a:pt x="4953000" y="101600"/>
                </a:cubicBezTo>
                <a:lnTo>
                  <a:pt x="4953000" y="1828800"/>
                </a:lnTo>
                <a:cubicBezTo>
                  <a:pt x="4953000" y="1884875"/>
                  <a:pt x="4907475" y="1930400"/>
                  <a:pt x="4851400" y="1930400"/>
                </a:cubicBez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533400" y="6883400"/>
            <a:ext cx="50800" cy="19304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7" name="Shape 55"/>
          <p:cNvSpPr/>
          <p:nvPr/>
        </p:nvSpPr>
        <p:spPr>
          <a:xfrm>
            <a:off x="736600" y="7086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  <a:moveTo>
                  <a:pt x="114300" y="38100"/>
                </a:moveTo>
                <a:cubicBezTo>
                  <a:pt x="114300" y="31091"/>
                  <a:pt x="108609" y="25400"/>
                  <a:pt x="101600" y="25400"/>
                </a:cubicBezTo>
                <a:cubicBezTo>
                  <a:pt x="94591" y="25400"/>
                  <a:pt x="88900" y="31091"/>
                  <a:pt x="88900" y="38100"/>
                </a:cubicBezTo>
                <a:cubicBezTo>
                  <a:pt x="88900" y="45109"/>
                  <a:pt x="94591" y="50800"/>
                  <a:pt x="101600" y="50800"/>
                </a:cubicBezTo>
                <a:cubicBezTo>
                  <a:pt x="108609" y="50800"/>
                  <a:pt x="114300" y="45109"/>
                  <a:pt x="114300" y="38100"/>
                </a:cubicBezTo>
                <a:close/>
                <a:moveTo>
                  <a:pt x="101600" y="165100"/>
                </a:moveTo>
                <a:cubicBezTo>
                  <a:pt x="115610" y="165100"/>
                  <a:pt x="127000" y="153710"/>
                  <a:pt x="127000" y="139700"/>
                </a:cubicBezTo>
                <a:cubicBezTo>
                  <a:pt x="127000" y="133271"/>
                  <a:pt x="124619" y="127357"/>
                  <a:pt x="120650" y="122912"/>
                </a:cubicBezTo>
                <a:lnTo>
                  <a:pt x="148233" y="67786"/>
                </a:lnTo>
                <a:cubicBezTo>
                  <a:pt x="150574" y="63063"/>
                  <a:pt x="148669" y="57348"/>
                  <a:pt x="143986" y="55007"/>
                </a:cubicBezTo>
                <a:cubicBezTo>
                  <a:pt x="139303" y="52665"/>
                  <a:pt x="133548" y="54570"/>
                  <a:pt x="131207" y="59253"/>
                </a:cubicBezTo>
                <a:lnTo>
                  <a:pt x="103624" y="114379"/>
                </a:lnTo>
                <a:cubicBezTo>
                  <a:pt x="102949" y="114340"/>
                  <a:pt x="102275" y="114300"/>
                  <a:pt x="101600" y="114300"/>
                </a:cubicBezTo>
                <a:cubicBezTo>
                  <a:pt x="87590" y="114300"/>
                  <a:pt x="76200" y="125690"/>
                  <a:pt x="76200" y="139700"/>
                </a:cubicBezTo>
                <a:cubicBezTo>
                  <a:pt x="76200" y="153710"/>
                  <a:pt x="87590" y="165100"/>
                  <a:pt x="101600" y="165100"/>
                </a:cubicBezTo>
                <a:close/>
                <a:moveTo>
                  <a:pt x="69850" y="57150"/>
                </a:moveTo>
                <a:cubicBezTo>
                  <a:pt x="69850" y="50141"/>
                  <a:pt x="64159" y="44450"/>
                  <a:pt x="57150" y="44450"/>
                </a:cubicBezTo>
                <a:cubicBezTo>
                  <a:pt x="50141" y="44450"/>
                  <a:pt x="44450" y="50141"/>
                  <a:pt x="44450" y="57150"/>
                </a:cubicBezTo>
                <a:cubicBezTo>
                  <a:pt x="44450" y="64159"/>
                  <a:pt x="50141" y="69850"/>
                  <a:pt x="57150" y="69850"/>
                </a:cubicBezTo>
                <a:cubicBezTo>
                  <a:pt x="64159" y="69850"/>
                  <a:pt x="69850" y="64159"/>
                  <a:pt x="69850" y="57150"/>
                </a:cubicBezTo>
                <a:close/>
                <a:moveTo>
                  <a:pt x="38100" y="114300"/>
                </a:moveTo>
                <a:cubicBezTo>
                  <a:pt x="45109" y="114300"/>
                  <a:pt x="50800" y="108609"/>
                  <a:pt x="50800" y="101600"/>
                </a:cubicBezTo>
                <a:cubicBezTo>
                  <a:pt x="50800" y="94591"/>
                  <a:pt x="45109" y="88900"/>
                  <a:pt x="38100" y="88900"/>
                </a:cubicBezTo>
                <a:cubicBezTo>
                  <a:pt x="31091" y="88900"/>
                  <a:pt x="25400" y="94591"/>
                  <a:pt x="25400" y="101600"/>
                </a:cubicBezTo>
                <a:cubicBezTo>
                  <a:pt x="25400" y="108609"/>
                  <a:pt x="31091" y="114300"/>
                  <a:pt x="38100" y="114300"/>
                </a:cubicBezTo>
                <a:close/>
                <a:moveTo>
                  <a:pt x="177800" y="101600"/>
                </a:moveTo>
                <a:cubicBezTo>
                  <a:pt x="177800" y="94591"/>
                  <a:pt x="172109" y="88900"/>
                  <a:pt x="165100" y="88900"/>
                </a:cubicBezTo>
                <a:cubicBezTo>
                  <a:pt x="158091" y="88900"/>
                  <a:pt x="152400" y="94591"/>
                  <a:pt x="152400" y="101600"/>
                </a:cubicBezTo>
                <a:cubicBezTo>
                  <a:pt x="152400" y="108609"/>
                  <a:pt x="158091" y="114300"/>
                  <a:pt x="165100" y="114300"/>
                </a:cubicBezTo>
                <a:cubicBezTo>
                  <a:pt x="172109" y="114300"/>
                  <a:pt x="177800" y="108609"/>
                  <a:pt x="177800" y="10160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58" name="Text 56"/>
          <p:cNvSpPr/>
          <p:nvPr/>
        </p:nvSpPr>
        <p:spPr>
          <a:xfrm>
            <a:off x="965200" y="7035800"/>
            <a:ext cx="447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Pipeline Latency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11200" y="7442200"/>
            <a:ext cx="481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~22ms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11200" y="79502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Well within &lt;100ms target for real-time beat detection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664200" y="6883400"/>
            <a:ext cx="4953000" cy="1930400"/>
          </a:xfrm>
          <a:custGeom>
            <a:avLst/>
            <a:gdLst/>
            <a:ahLst/>
            <a:cxnLst/>
            <a:rect l="l" t="t" r="r" b="b"/>
            <a:pathLst>
              <a:path w="4953000" h="1930400">
                <a:moveTo>
                  <a:pt x="0" y="0"/>
                </a:moveTo>
                <a:lnTo>
                  <a:pt x="4851400" y="0"/>
                </a:lnTo>
                <a:cubicBezTo>
                  <a:pt x="4907475" y="0"/>
                  <a:pt x="4953000" y="45525"/>
                  <a:pt x="4953000" y="101600"/>
                </a:cubicBezTo>
                <a:lnTo>
                  <a:pt x="4953000" y="1828800"/>
                </a:lnTo>
                <a:cubicBezTo>
                  <a:pt x="4953000" y="1884875"/>
                  <a:pt x="4907475" y="1930400"/>
                  <a:pt x="4851400" y="1930400"/>
                </a:cubicBez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664200" y="6883400"/>
            <a:ext cx="50800" cy="1930400"/>
          </a:xfrm>
          <a:prstGeom prst="roundRect">
            <a:avLst>
              <a:gd name="adj" fmla="val 0"/>
            </a:avLst>
          </a:prstGeom>
          <a:solidFill>
            <a:srgbClr val="A9B4C2"/>
          </a:solidFill>
          <a:ln/>
        </p:spPr>
      </p:sp>
      <p:sp>
        <p:nvSpPr>
          <p:cNvPr id="63" name="Shape 61"/>
          <p:cNvSpPr/>
          <p:nvPr/>
        </p:nvSpPr>
        <p:spPr>
          <a:xfrm>
            <a:off x="5867400" y="7086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69850" y="9525"/>
                </a:moveTo>
                <a:cubicBezTo>
                  <a:pt x="69850" y="4247"/>
                  <a:pt x="65603" y="0"/>
                  <a:pt x="60325" y="0"/>
                </a:cubicBezTo>
                <a:cubicBezTo>
                  <a:pt x="55047" y="0"/>
                  <a:pt x="50800" y="4247"/>
                  <a:pt x="50800" y="9525"/>
                </a:cubicBezTo>
                <a:lnTo>
                  <a:pt x="50800" y="25400"/>
                </a:lnTo>
                <a:cubicBezTo>
                  <a:pt x="36790" y="25400"/>
                  <a:pt x="25400" y="36790"/>
                  <a:pt x="25400" y="50800"/>
                </a:cubicBezTo>
                <a:lnTo>
                  <a:pt x="9525" y="50800"/>
                </a:lnTo>
                <a:cubicBezTo>
                  <a:pt x="4247" y="50800"/>
                  <a:pt x="0" y="55047"/>
                  <a:pt x="0" y="60325"/>
                </a:cubicBezTo>
                <a:cubicBezTo>
                  <a:pt x="0" y="65603"/>
                  <a:pt x="4247" y="69850"/>
                  <a:pt x="9525" y="69850"/>
                </a:cubicBezTo>
                <a:lnTo>
                  <a:pt x="25400" y="69850"/>
                </a:lnTo>
                <a:lnTo>
                  <a:pt x="25400" y="92075"/>
                </a:lnTo>
                <a:lnTo>
                  <a:pt x="9525" y="92075"/>
                </a:lnTo>
                <a:cubicBezTo>
                  <a:pt x="4247" y="92075"/>
                  <a:pt x="0" y="96322"/>
                  <a:pt x="0" y="101600"/>
                </a:cubicBezTo>
                <a:cubicBezTo>
                  <a:pt x="0" y="106878"/>
                  <a:pt x="4247" y="111125"/>
                  <a:pt x="9525" y="111125"/>
                </a:cubicBezTo>
                <a:lnTo>
                  <a:pt x="25400" y="111125"/>
                </a:lnTo>
                <a:lnTo>
                  <a:pt x="25400" y="133350"/>
                </a:lnTo>
                <a:lnTo>
                  <a:pt x="9525" y="133350"/>
                </a:lnTo>
                <a:cubicBezTo>
                  <a:pt x="4247" y="133350"/>
                  <a:pt x="0" y="137597"/>
                  <a:pt x="0" y="142875"/>
                </a:cubicBezTo>
                <a:cubicBezTo>
                  <a:pt x="0" y="148153"/>
                  <a:pt x="4247" y="152400"/>
                  <a:pt x="9525" y="152400"/>
                </a:cubicBezTo>
                <a:lnTo>
                  <a:pt x="25400" y="152400"/>
                </a:lnTo>
                <a:cubicBezTo>
                  <a:pt x="25400" y="166410"/>
                  <a:pt x="36790" y="177800"/>
                  <a:pt x="50800" y="177800"/>
                </a:cubicBezTo>
                <a:lnTo>
                  <a:pt x="50800" y="193675"/>
                </a:lnTo>
                <a:cubicBezTo>
                  <a:pt x="50800" y="198953"/>
                  <a:pt x="55047" y="203200"/>
                  <a:pt x="60325" y="203200"/>
                </a:cubicBezTo>
                <a:cubicBezTo>
                  <a:pt x="65603" y="203200"/>
                  <a:pt x="69850" y="198953"/>
                  <a:pt x="69850" y="193675"/>
                </a:cubicBezTo>
                <a:lnTo>
                  <a:pt x="69850" y="177800"/>
                </a:lnTo>
                <a:lnTo>
                  <a:pt x="92075" y="177800"/>
                </a:lnTo>
                <a:lnTo>
                  <a:pt x="92075" y="193675"/>
                </a:lnTo>
                <a:cubicBezTo>
                  <a:pt x="92075" y="198953"/>
                  <a:pt x="96322" y="203200"/>
                  <a:pt x="101600" y="203200"/>
                </a:cubicBezTo>
                <a:cubicBezTo>
                  <a:pt x="106878" y="203200"/>
                  <a:pt x="111125" y="198953"/>
                  <a:pt x="111125" y="193675"/>
                </a:cubicBezTo>
                <a:lnTo>
                  <a:pt x="111125" y="177800"/>
                </a:lnTo>
                <a:lnTo>
                  <a:pt x="133350" y="177800"/>
                </a:lnTo>
                <a:lnTo>
                  <a:pt x="133350" y="193675"/>
                </a:lnTo>
                <a:cubicBezTo>
                  <a:pt x="133350" y="198953"/>
                  <a:pt x="137597" y="203200"/>
                  <a:pt x="142875" y="203200"/>
                </a:cubicBezTo>
                <a:cubicBezTo>
                  <a:pt x="148153" y="203200"/>
                  <a:pt x="152400" y="198953"/>
                  <a:pt x="152400" y="193675"/>
                </a:cubicBezTo>
                <a:lnTo>
                  <a:pt x="152400" y="177800"/>
                </a:lnTo>
                <a:cubicBezTo>
                  <a:pt x="166410" y="177800"/>
                  <a:pt x="177800" y="166410"/>
                  <a:pt x="177800" y="152400"/>
                </a:cubicBezTo>
                <a:lnTo>
                  <a:pt x="193675" y="152400"/>
                </a:lnTo>
                <a:cubicBezTo>
                  <a:pt x="198953" y="152400"/>
                  <a:pt x="203200" y="148153"/>
                  <a:pt x="203200" y="142875"/>
                </a:cubicBezTo>
                <a:cubicBezTo>
                  <a:pt x="203200" y="137597"/>
                  <a:pt x="198953" y="133350"/>
                  <a:pt x="193675" y="133350"/>
                </a:cubicBezTo>
                <a:lnTo>
                  <a:pt x="177800" y="133350"/>
                </a:lnTo>
                <a:lnTo>
                  <a:pt x="177800" y="111125"/>
                </a:lnTo>
                <a:lnTo>
                  <a:pt x="193675" y="111125"/>
                </a:lnTo>
                <a:cubicBezTo>
                  <a:pt x="198953" y="111125"/>
                  <a:pt x="203200" y="106878"/>
                  <a:pt x="203200" y="101600"/>
                </a:cubicBezTo>
                <a:cubicBezTo>
                  <a:pt x="203200" y="96322"/>
                  <a:pt x="198953" y="92075"/>
                  <a:pt x="193675" y="92075"/>
                </a:cubicBezTo>
                <a:lnTo>
                  <a:pt x="177800" y="92075"/>
                </a:lnTo>
                <a:lnTo>
                  <a:pt x="177800" y="69850"/>
                </a:lnTo>
                <a:lnTo>
                  <a:pt x="193675" y="69850"/>
                </a:lnTo>
                <a:cubicBezTo>
                  <a:pt x="198953" y="69850"/>
                  <a:pt x="203200" y="65603"/>
                  <a:pt x="203200" y="60325"/>
                </a:cubicBezTo>
                <a:cubicBezTo>
                  <a:pt x="203200" y="55047"/>
                  <a:pt x="198953" y="50800"/>
                  <a:pt x="193675" y="50800"/>
                </a:cubicBez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52400" y="9525"/>
                </a:lnTo>
                <a:cubicBezTo>
                  <a:pt x="152400" y="4247"/>
                  <a:pt x="148153" y="0"/>
                  <a:pt x="142875" y="0"/>
                </a:cubicBezTo>
                <a:cubicBezTo>
                  <a:pt x="137597" y="0"/>
                  <a:pt x="133350" y="4247"/>
                  <a:pt x="133350" y="9525"/>
                </a:cubicBezTo>
                <a:lnTo>
                  <a:pt x="133350" y="25400"/>
                </a:lnTo>
                <a:lnTo>
                  <a:pt x="111125" y="25400"/>
                </a:lnTo>
                <a:lnTo>
                  <a:pt x="111125" y="9525"/>
                </a:lnTo>
                <a:cubicBezTo>
                  <a:pt x="111125" y="4247"/>
                  <a:pt x="106878" y="0"/>
                  <a:pt x="101600" y="0"/>
                </a:cubicBezTo>
                <a:cubicBezTo>
                  <a:pt x="96322" y="0"/>
                  <a:pt x="92075" y="4247"/>
                  <a:pt x="92075" y="9525"/>
                </a:cubicBezTo>
                <a:lnTo>
                  <a:pt x="92075" y="25400"/>
                </a:lnTo>
                <a:lnTo>
                  <a:pt x="69850" y="25400"/>
                </a:lnTo>
                <a:lnTo>
                  <a:pt x="69850" y="9525"/>
                </a:lnTo>
                <a:close/>
                <a:moveTo>
                  <a:pt x="63500" y="50800"/>
                </a:moveTo>
                <a:lnTo>
                  <a:pt x="139700" y="50800"/>
                </a:lnTo>
                <a:cubicBezTo>
                  <a:pt x="146725" y="50800"/>
                  <a:pt x="152400" y="56475"/>
                  <a:pt x="152400" y="63500"/>
                </a:cubicBezTo>
                <a:lnTo>
                  <a:pt x="152400" y="139700"/>
                </a:lnTo>
                <a:cubicBezTo>
                  <a:pt x="152400" y="146725"/>
                  <a:pt x="146725" y="152400"/>
                  <a:pt x="139700" y="152400"/>
                </a:cubicBezTo>
                <a:lnTo>
                  <a:pt x="63500" y="152400"/>
                </a:lnTo>
                <a:cubicBezTo>
                  <a:pt x="56475" y="152400"/>
                  <a:pt x="50800" y="146725"/>
                  <a:pt x="50800" y="139700"/>
                </a:cubicBezTo>
                <a:lnTo>
                  <a:pt x="50800" y="63500"/>
                </a:lnTo>
                <a:cubicBezTo>
                  <a:pt x="50800" y="56475"/>
                  <a:pt x="56475" y="50800"/>
                  <a:pt x="63500" y="50800"/>
                </a:cubicBezTo>
                <a:close/>
                <a:moveTo>
                  <a:pt x="69850" y="69850"/>
                </a:moveTo>
                <a:lnTo>
                  <a:pt x="69850" y="133350"/>
                </a:lnTo>
                <a:lnTo>
                  <a:pt x="133350" y="133350"/>
                </a:lnTo>
                <a:lnTo>
                  <a:pt x="133350" y="69850"/>
                </a:lnTo>
                <a:lnTo>
                  <a:pt x="69850" y="69850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64" name="Text 62"/>
          <p:cNvSpPr/>
          <p:nvPr/>
        </p:nvSpPr>
        <p:spPr>
          <a:xfrm>
            <a:off x="6096000" y="7035800"/>
            <a:ext cx="447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Model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842000" y="7442200"/>
            <a:ext cx="4724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Frame-by-frame processing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temporal filtering. Face detector only invoked when tracking confidence drops below threshold, reducing computational overhead.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795000" y="6883400"/>
            <a:ext cx="4953000" cy="1930400"/>
          </a:xfrm>
          <a:custGeom>
            <a:avLst/>
            <a:gdLst/>
            <a:ahLst/>
            <a:cxnLst/>
            <a:rect l="l" t="t" r="r" b="b"/>
            <a:pathLst>
              <a:path w="4953000" h="1930400">
                <a:moveTo>
                  <a:pt x="0" y="0"/>
                </a:moveTo>
                <a:lnTo>
                  <a:pt x="4851400" y="0"/>
                </a:lnTo>
                <a:cubicBezTo>
                  <a:pt x="4907475" y="0"/>
                  <a:pt x="4953000" y="45525"/>
                  <a:pt x="4953000" y="101600"/>
                </a:cubicBezTo>
                <a:lnTo>
                  <a:pt x="4953000" y="1828800"/>
                </a:lnTo>
                <a:cubicBezTo>
                  <a:pt x="4953000" y="1884875"/>
                  <a:pt x="4907475" y="1930400"/>
                  <a:pt x="4851400" y="1930400"/>
                </a:cubicBez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0795000" y="6883400"/>
            <a:ext cx="50800" cy="19304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68" name="Shape 66"/>
          <p:cNvSpPr/>
          <p:nvPr/>
        </p:nvSpPr>
        <p:spPr>
          <a:xfrm>
            <a:off x="10998200" y="7086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69" name="Text 67"/>
          <p:cNvSpPr/>
          <p:nvPr/>
        </p:nvSpPr>
        <p:spPr>
          <a:xfrm>
            <a:off x="11226800" y="7035800"/>
            <a:ext cx="447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972800" y="7442200"/>
            <a:ext cx="472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Graceful degradation when face not detected: maintains last known tempo, resumes tracking when face reappears. No abrupt tempo changes.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Threshold Optimization &amp; Metrics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473200"/>
            <a:ext cx="1219200" cy="5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625600"/>
            <a:ext cx="7493000" cy="5130800"/>
          </a:xfrm>
          <a:custGeom>
            <a:avLst/>
            <a:gdLst/>
            <a:ahLst/>
            <a:cxnLst/>
            <a:rect l="l" t="t" r="r" b="b"/>
            <a:pathLst>
              <a:path w="7493000" h="5130800">
                <a:moveTo>
                  <a:pt x="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5029200"/>
                </a:lnTo>
                <a:cubicBezTo>
                  <a:pt x="7493000" y="5085275"/>
                  <a:pt x="7447475" y="5130800"/>
                  <a:pt x="7391400" y="5130800"/>
                </a:cubicBezTo>
                <a:lnTo>
                  <a:pt x="0" y="51308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25600"/>
            <a:ext cx="50800" cy="513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7" name="Shape 5"/>
          <p:cNvSpPr/>
          <p:nvPr/>
        </p:nvSpPr>
        <p:spPr>
          <a:xfrm>
            <a:off x="742950" y="1828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31750"/>
                </a:moveTo>
                <a:cubicBezTo>
                  <a:pt x="7094" y="31750"/>
                  <a:pt x="0" y="38844"/>
                  <a:pt x="0" y="47625"/>
                </a:cubicBezTo>
                <a:cubicBezTo>
                  <a:pt x="0" y="56406"/>
                  <a:pt x="7094" y="63500"/>
                  <a:pt x="15875" y="63500"/>
                </a:cubicBezTo>
                <a:lnTo>
                  <a:pt x="58886" y="63500"/>
                </a:lnTo>
                <a:cubicBezTo>
                  <a:pt x="64988" y="77539"/>
                  <a:pt x="78978" y="87313"/>
                  <a:pt x="95250" y="87313"/>
                </a:cubicBezTo>
                <a:cubicBezTo>
                  <a:pt x="111522" y="87313"/>
                  <a:pt x="125512" y="77539"/>
                  <a:pt x="131614" y="63500"/>
                </a:cubicBezTo>
                <a:lnTo>
                  <a:pt x="238125" y="63500"/>
                </a:lnTo>
                <a:cubicBezTo>
                  <a:pt x="246906" y="63500"/>
                  <a:pt x="254000" y="56406"/>
                  <a:pt x="254000" y="47625"/>
                </a:cubicBezTo>
                <a:cubicBezTo>
                  <a:pt x="254000" y="38844"/>
                  <a:pt x="246906" y="31750"/>
                  <a:pt x="238125" y="31750"/>
                </a:cubicBezTo>
                <a:lnTo>
                  <a:pt x="131614" y="31750"/>
                </a:lnTo>
                <a:cubicBezTo>
                  <a:pt x="125512" y="17711"/>
                  <a:pt x="111522" y="7938"/>
                  <a:pt x="95250" y="7938"/>
                </a:cubicBezTo>
                <a:cubicBezTo>
                  <a:pt x="78978" y="7938"/>
                  <a:pt x="64988" y="17711"/>
                  <a:pt x="58886" y="31750"/>
                </a:cubicBezTo>
                <a:lnTo>
                  <a:pt x="15875" y="31750"/>
                </a:lnTo>
                <a:close/>
                <a:moveTo>
                  <a:pt x="15875" y="111125"/>
                </a:move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38261" y="142875"/>
                </a:lnTo>
                <a:cubicBezTo>
                  <a:pt x="144363" y="156914"/>
                  <a:pt x="158353" y="166688"/>
                  <a:pt x="174625" y="166688"/>
                </a:cubicBezTo>
                <a:cubicBezTo>
                  <a:pt x="190897" y="166688"/>
                  <a:pt x="204887" y="156914"/>
                  <a:pt x="210989" y="142875"/>
                </a:cubicBezTo>
                <a:lnTo>
                  <a:pt x="238125" y="142875"/>
                </a:lnTo>
                <a:cubicBezTo>
                  <a:pt x="246906" y="142875"/>
                  <a:pt x="254000" y="135781"/>
                  <a:pt x="254000" y="127000"/>
                </a:cubicBezTo>
                <a:cubicBezTo>
                  <a:pt x="254000" y="118219"/>
                  <a:pt x="246906" y="111125"/>
                  <a:pt x="238125" y="111125"/>
                </a:cubicBezTo>
                <a:lnTo>
                  <a:pt x="210989" y="111125"/>
                </a:lnTo>
                <a:cubicBezTo>
                  <a:pt x="204887" y="97086"/>
                  <a:pt x="190897" y="87313"/>
                  <a:pt x="174625" y="87313"/>
                </a:cubicBezTo>
                <a:cubicBezTo>
                  <a:pt x="158353" y="87313"/>
                  <a:pt x="144363" y="97086"/>
                  <a:pt x="138261" y="111125"/>
                </a:cubicBezTo>
                <a:lnTo>
                  <a:pt x="15875" y="111125"/>
                </a:lnTo>
                <a:close/>
                <a:moveTo>
                  <a:pt x="15875" y="190500"/>
                </a:moveTo>
                <a:cubicBezTo>
                  <a:pt x="7094" y="190500"/>
                  <a:pt x="0" y="197594"/>
                  <a:pt x="0" y="206375"/>
                </a:cubicBezTo>
                <a:cubicBezTo>
                  <a:pt x="0" y="215156"/>
                  <a:pt x="7094" y="222250"/>
                  <a:pt x="15875" y="222250"/>
                </a:cubicBezTo>
                <a:lnTo>
                  <a:pt x="43011" y="222250"/>
                </a:lnTo>
                <a:cubicBezTo>
                  <a:pt x="49113" y="236289"/>
                  <a:pt x="63103" y="246063"/>
                  <a:pt x="79375" y="246063"/>
                </a:cubicBezTo>
                <a:cubicBezTo>
                  <a:pt x="95647" y="246063"/>
                  <a:pt x="109637" y="236289"/>
                  <a:pt x="115739" y="222250"/>
                </a:cubicBez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ubicBezTo>
                  <a:pt x="254000" y="197594"/>
                  <a:pt x="246906" y="190500"/>
                  <a:pt x="238125" y="190500"/>
                </a:cubicBezTo>
                <a:lnTo>
                  <a:pt x="115739" y="190500"/>
                </a:lnTo>
                <a:cubicBezTo>
                  <a:pt x="109637" y="176461"/>
                  <a:pt x="95647" y="166688"/>
                  <a:pt x="79375" y="166688"/>
                </a:cubicBezTo>
                <a:cubicBezTo>
                  <a:pt x="63103" y="166688"/>
                  <a:pt x="49113" y="176461"/>
                  <a:pt x="43011" y="190500"/>
                </a:cubicBezTo>
                <a:lnTo>
                  <a:pt x="15875" y="190500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1778000"/>
            <a:ext cx="697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EAR Threshold Ranges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1200" y="22352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 thresholds are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person-dependent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require calibration. Research shows optimal values vary based on eye shape, ethnicity, and lighting conditions.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7550" y="2952750"/>
            <a:ext cx="7150100" cy="863600"/>
          </a:xfrm>
          <a:prstGeom prst="roundRect">
            <a:avLst>
              <a:gd name="adj" fmla="val 11765"/>
            </a:avLst>
          </a:prstGeom>
          <a:solidFill>
            <a:srgbClr val="1A1D21">
              <a:alpha val="70196"/>
            </a:srgbClr>
          </a:solidFill>
          <a:ln w="12700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500" y="310515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Universal Threshold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08428" y="3060700"/>
            <a:ext cx="8001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500" y="34544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Effective for ~80% of individuals without calibration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7550" y="3879850"/>
            <a:ext cx="7150100" cy="863600"/>
          </a:xfrm>
          <a:prstGeom prst="roundRect">
            <a:avLst>
              <a:gd name="adj" fmla="val 11765"/>
            </a:avLst>
          </a:prstGeom>
          <a:solidFill>
            <a:srgbClr val="1A1D21">
              <a:alpha val="70196"/>
            </a:srgbClr>
          </a:solidFill>
          <a:ln w="12700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500" y="4032250"/>
            <a:ext cx="226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Conservative (Low FP)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9577" y="3987800"/>
            <a:ext cx="825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500" y="43815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false positives, may miss subtle blinks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7550" y="4806950"/>
            <a:ext cx="7150100" cy="863600"/>
          </a:xfrm>
          <a:prstGeom prst="roundRect">
            <a:avLst>
              <a:gd name="adj" fmla="val 11765"/>
            </a:avLst>
          </a:prstGeom>
          <a:solidFill>
            <a:srgbClr val="1A1D21">
              <a:alpha val="70196"/>
            </a:srgbClr>
          </a:solidFill>
          <a:ln w="12700">
            <a:solidFill>
              <a:srgbClr val="A9B4C2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500" y="4959350"/>
            <a:ext cx="257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Sensitive (High Accuracy)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52084" y="4914900"/>
            <a:ext cx="762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5500" y="53086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detection accuracy, higher false positive rate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7550" y="5734050"/>
            <a:ext cx="7150100" cy="863600"/>
          </a:xfrm>
          <a:prstGeom prst="roundRect">
            <a:avLst>
              <a:gd name="adj" fmla="val 11765"/>
            </a:avLst>
          </a:prstGeom>
          <a:solidFill>
            <a:srgbClr val="1A1D21">
              <a:alpha val="70196"/>
            </a:srgbClr>
          </a:solidFill>
          <a:ln w="12700">
            <a:solidFill>
              <a:srgbClr val="E6F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500" y="5886450"/>
            <a:ext cx="243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Modified EAR (Dynamic)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2036" y="5842000"/>
            <a:ext cx="825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5500" y="62357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Calibrated per individual: (EAR_open + EAR_closed) / 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6959600"/>
            <a:ext cx="7493000" cy="2565400"/>
          </a:xfrm>
          <a:custGeom>
            <a:avLst/>
            <a:gdLst/>
            <a:ahLst/>
            <a:cxnLst/>
            <a:rect l="l" t="t" r="r" b="b"/>
            <a:pathLst>
              <a:path w="7493000" h="2565400">
                <a:moveTo>
                  <a:pt x="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2463800"/>
                </a:lnTo>
                <a:cubicBezTo>
                  <a:pt x="7493000" y="2519875"/>
                  <a:pt x="7447475" y="2565400"/>
                  <a:pt x="7391400" y="2565400"/>
                </a:cubicBezTo>
                <a:lnTo>
                  <a:pt x="0" y="25654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3400" y="6959600"/>
            <a:ext cx="50800" cy="2565400"/>
          </a:xfrm>
          <a:prstGeom prst="roundRect">
            <a:avLst>
              <a:gd name="adj" fmla="val 0"/>
            </a:avLst>
          </a:prstGeom>
          <a:solidFill>
            <a:srgbClr val="A9B4C2"/>
          </a:solidFill>
          <a:ln/>
        </p:spPr>
      </p:sp>
      <p:sp>
        <p:nvSpPr>
          <p:cNvPr id="28" name="Shape 26"/>
          <p:cNvSpPr/>
          <p:nvPr/>
        </p:nvSpPr>
        <p:spPr>
          <a:xfrm>
            <a:off x="742950" y="7162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700" y="7112000"/>
            <a:ext cx="697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Consecutive Frame Logic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1200" y="75692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prevent false positives from brief eye movements or noise, the system requires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3-5 consecutive frames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below threshold before registering a blink.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1200" y="8280400"/>
            <a:ext cx="3530600" cy="1092200"/>
          </a:xfrm>
          <a:prstGeom prst="roundRect">
            <a:avLst>
              <a:gd name="adj" fmla="val 9302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6600" y="8382000"/>
            <a:ext cx="3479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frames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8350" y="88265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 30 FPS = 100ms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4700" y="90805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6E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43400" y="8280400"/>
            <a:ext cx="3530600" cy="1092200"/>
          </a:xfrm>
          <a:prstGeom prst="roundRect">
            <a:avLst>
              <a:gd name="adj" fmla="val 9302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368800" y="8382000"/>
            <a:ext cx="3479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frames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00550" y="882650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 30 FPS = 167ms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06900" y="9080500"/>
            <a:ext cx="3403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6E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Conservative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29600" y="1625600"/>
            <a:ext cx="7518400" cy="3962400"/>
          </a:xfrm>
          <a:prstGeom prst="roundRect">
            <a:avLst>
              <a:gd name="adj" fmla="val 2564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369300" y="1828800"/>
            <a:ext cx="723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by Lighting Condition</a:t>
            </a:r>
            <a:endParaRPr lang="en-US" sz="1600" dirty="0"/>
          </a:p>
        </p:txBody>
      </p:sp>
      <p:pic>
        <p:nvPicPr>
          <p:cNvPr id="41" name="Image 0" descr="https://kimi-img.moonshot.cn/pub/slides/26-05-15-13:43:28-d83b50223rd79v924lt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32800" y="2336800"/>
            <a:ext cx="7112000" cy="3048000"/>
          </a:xfrm>
          <a:prstGeom prst="roundRect">
            <a:avLst>
              <a:gd name="adj" fmla="val 0"/>
            </a:avLst>
          </a:prstGeom>
        </p:spPr>
      </p:pic>
      <p:sp>
        <p:nvSpPr>
          <p:cNvPr id="42" name="Shape 39"/>
          <p:cNvSpPr/>
          <p:nvPr/>
        </p:nvSpPr>
        <p:spPr>
          <a:xfrm>
            <a:off x="8255000" y="5791200"/>
            <a:ext cx="7493000" cy="3733800"/>
          </a:xfrm>
          <a:custGeom>
            <a:avLst/>
            <a:gdLst/>
            <a:ahLst/>
            <a:cxnLst/>
            <a:rect l="l" t="t" r="r" b="b"/>
            <a:pathLst>
              <a:path w="7493000" h="3733800">
                <a:moveTo>
                  <a:pt x="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3632200"/>
                </a:lnTo>
                <a:cubicBezTo>
                  <a:pt x="7493000" y="3688275"/>
                  <a:pt x="7447475" y="3733800"/>
                  <a:pt x="7391400" y="3733800"/>
                </a:cubicBez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8255000" y="5791200"/>
            <a:ext cx="50800" cy="3733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44" name="Shape 41"/>
          <p:cNvSpPr/>
          <p:nvPr/>
        </p:nvSpPr>
        <p:spPr>
          <a:xfrm>
            <a:off x="8499475" y="60452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4198" y="119063"/>
                </a:moveTo>
                <a:lnTo>
                  <a:pt x="166886" y="119063"/>
                </a:lnTo>
                <a:cubicBezTo>
                  <a:pt x="158105" y="119063"/>
                  <a:pt x="151011" y="111968"/>
                  <a:pt x="151011" y="103188"/>
                </a:cubicBezTo>
                <a:lnTo>
                  <a:pt x="151011" y="15875"/>
                </a:lnTo>
                <a:cubicBezTo>
                  <a:pt x="151011" y="7094"/>
                  <a:pt x="158155" y="-99"/>
                  <a:pt x="166836" y="1042"/>
                </a:cubicBezTo>
                <a:cubicBezTo>
                  <a:pt x="219918" y="8086"/>
                  <a:pt x="261987" y="50155"/>
                  <a:pt x="269032" y="103237"/>
                </a:cubicBezTo>
                <a:cubicBezTo>
                  <a:pt x="270173" y="111919"/>
                  <a:pt x="262979" y="119063"/>
                  <a:pt x="254198" y="119063"/>
                </a:cubicBezTo>
                <a:close/>
                <a:moveTo>
                  <a:pt x="110430" y="18455"/>
                </a:moveTo>
                <a:cubicBezTo>
                  <a:pt x="119410" y="16570"/>
                  <a:pt x="127198" y="23912"/>
                  <a:pt x="127198" y="33089"/>
                </a:cubicBezTo>
                <a:lnTo>
                  <a:pt x="127198" y="130969"/>
                </a:lnTo>
                <a:cubicBezTo>
                  <a:pt x="127198" y="133747"/>
                  <a:pt x="128191" y="136426"/>
                  <a:pt x="129927" y="138559"/>
                </a:cubicBezTo>
                <a:lnTo>
                  <a:pt x="195461" y="217636"/>
                </a:lnTo>
                <a:cubicBezTo>
                  <a:pt x="201265" y="224631"/>
                  <a:pt x="200025" y="235198"/>
                  <a:pt x="192038" y="239514"/>
                </a:cubicBezTo>
                <a:cubicBezTo>
                  <a:pt x="175121" y="248741"/>
                  <a:pt x="155724" y="254000"/>
                  <a:pt x="135136" y="254000"/>
                </a:cubicBezTo>
                <a:cubicBezTo>
                  <a:pt x="69404" y="254000"/>
                  <a:pt x="16073" y="200670"/>
                  <a:pt x="16073" y="134938"/>
                </a:cubicBezTo>
                <a:cubicBezTo>
                  <a:pt x="16073" y="77639"/>
                  <a:pt x="56505" y="29815"/>
                  <a:pt x="110430" y="18455"/>
                </a:cubicBezTo>
                <a:close/>
                <a:moveTo>
                  <a:pt x="237034" y="142875"/>
                </a:moveTo>
                <a:lnTo>
                  <a:pt x="268784" y="142875"/>
                </a:lnTo>
                <a:cubicBezTo>
                  <a:pt x="277961" y="142875"/>
                  <a:pt x="285304" y="150664"/>
                  <a:pt x="283418" y="159643"/>
                </a:cubicBezTo>
                <a:cubicBezTo>
                  <a:pt x="278358" y="183654"/>
                  <a:pt x="266055" y="204986"/>
                  <a:pt x="248890" y="221258"/>
                </a:cubicBezTo>
                <a:cubicBezTo>
                  <a:pt x="242788" y="227062"/>
                  <a:pt x="233214" y="225822"/>
                  <a:pt x="227856" y="219323"/>
                </a:cubicBezTo>
                <a:lnTo>
                  <a:pt x="185986" y="168870"/>
                </a:lnTo>
                <a:cubicBezTo>
                  <a:pt x="177403" y="158502"/>
                  <a:pt x="184795" y="142875"/>
                  <a:pt x="198189" y="142875"/>
                </a:cubicBezTo>
                <a:lnTo>
                  <a:pt x="236984" y="142875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45" name="Text 42"/>
          <p:cNvSpPr/>
          <p:nvPr/>
        </p:nvSpPr>
        <p:spPr>
          <a:xfrm>
            <a:off x="8801100" y="5994400"/>
            <a:ext cx="687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Performance Summary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483600" y="6502400"/>
            <a:ext cx="3454400" cy="1066800"/>
          </a:xfrm>
          <a:prstGeom prst="roundRect">
            <a:avLst>
              <a:gd name="adj" fmla="val 9524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8540750" y="6654800"/>
            <a:ext cx="334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95.6%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591550" y="7162800"/>
            <a:ext cx="323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Indoor Natural Light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2090400" y="6502400"/>
            <a:ext cx="3454400" cy="1066800"/>
          </a:xfrm>
          <a:prstGeom prst="roundRect">
            <a:avLst>
              <a:gd name="adj" fmla="val 9524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12147550" y="6654800"/>
            <a:ext cx="334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93.8%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2198350" y="7162800"/>
            <a:ext cx="323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Light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483600" y="7721600"/>
            <a:ext cx="3454400" cy="1066800"/>
          </a:xfrm>
          <a:prstGeom prst="roundRect">
            <a:avLst>
              <a:gd name="adj" fmla="val 9524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8540750" y="7874000"/>
            <a:ext cx="334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88.4%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591550" y="8382000"/>
            <a:ext cx="323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Light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12090400" y="7721600"/>
            <a:ext cx="3454400" cy="1066800"/>
          </a:xfrm>
          <a:prstGeom prst="roundRect">
            <a:avLst>
              <a:gd name="adj" fmla="val 9524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12147550" y="7874000"/>
            <a:ext cx="334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&lt;5%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2198350" y="8382000"/>
            <a:ext cx="323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 Positive Rate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CONTEXT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Integration with Worship Music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473200"/>
            <a:ext cx="1219200" cy="5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676400"/>
            <a:ext cx="8991600" cy="4521200"/>
          </a:xfrm>
          <a:custGeom>
            <a:avLst/>
            <a:gdLst/>
            <a:ahLst/>
            <a:cxnLst/>
            <a:rect l="l" t="t" r="r" b="b"/>
            <a:pathLst>
              <a:path w="8991600" h="45212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4419600"/>
                </a:lnTo>
                <a:cubicBezTo>
                  <a:pt x="8991600" y="4475675"/>
                  <a:pt x="8946075" y="4521200"/>
                  <a:pt x="8890000" y="4521200"/>
                </a:cubicBezTo>
                <a:lnTo>
                  <a:pt x="0" y="45212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45212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7" name="Shape 5"/>
          <p:cNvSpPr/>
          <p:nvPr/>
        </p:nvSpPr>
        <p:spPr>
          <a:xfrm>
            <a:off x="793750" y="1930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38906" y="-3969"/>
                </a:moveTo>
                <a:cubicBezTo>
                  <a:pt x="138906" y="-10567"/>
                  <a:pt x="133598" y="-15875"/>
                  <a:pt x="127000" y="-15875"/>
                </a:cubicBezTo>
                <a:cubicBezTo>
                  <a:pt x="120402" y="-15875"/>
                  <a:pt x="115094" y="-10567"/>
                  <a:pt x="115094" y="-3969"/>
                </a:cubicBezTo>
                <a:lnTo>
                  <a:pt x="115094" y="7938"/>
                </a:lnTo>
                <a:lnTo>
                  <a:pt x="99219" y="7938"/>
                </a:lnTo>
                <a:cubicBezTo>
                  <a:pt x="92621" y="7938"/>
                  <a:pt x="87313" y="13246"/>
                  <a:pt x="87313" y="19844"/>
                </a:cubicBezTo>
                <a:cubicBezTo>
                  <a:pt x="87313" y="26442"/>
                  <a:pt x="92621" y="31750"/>
                  <a:pt x="99219" y="31750"/>
                </a:cubicBezTo>
                <a:lnTo>
                  <a:pt x="115094" y="31750"/>
                </a:lnTo>
                <a:lnTo>
                  <a:pt x="115094" y="55563"/>
                </a:lnTo>
                <a:lnTo>
                  <a:pt x="66179" y="88205"/>
                </a:lnTo>
                <a:cubicBezTo>
                  <a:pt x="59531" y="92621"/>
                  <a:pt x="55563" y="100013"/>
                  <a:pt x="55563" y="108000"/>
                </a:cubicBezTo>
                <a:lnTo>
                  <a:pt x="55563" y="127000"/>
                </a:lnTo>
                <a:lnTo>
                  <a:pt x="15974" y="149622"/>
                </a:lnTo>
                <a:cubicBezTo>
                  <a:pt x="6102" y="155277"/>
                  <a:pt x="0" y="165795"/>
                  <a:pt x="0" y="177155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cubicBezTo>
                  <a:pt x="68808" y="254000"/>
                  <a:pt x="74116" y="254000"/>
                  <a:pt x="190500" y="254000"/>
                </a:cubicBezTo>
                <a:lnTo>
                  <a:pt x="222250" y="254000"/>
                </a:lnTo>
                <a:cubicBezTo>
                  <a:pt x="239762" y="254000"/>
                  <a:pt x="254000" y="239762"/>
                  <a:pt x="254000" y="222250"/>
                </a:cubicBezTo>
                <a:lnTo>
                  <a:pt x="254000" y="177155"/>
                </a:lnTo>
                <a:cubicBezTo>
                  <a:pt x="254000" y="165745"/>
                  <a:pt x="247898" y="155228"/>
                  <a:pt x="238026" y="149572"/>
                </a:cubicBezTo>
                <a:lnTo>
                  <a:pt x="198438" y="127000"/>
                </a:lnTo>
                <a:lnTo>
                  <a:pt x="198438" y="108000"/>
                </a:lnTo>
                <a:cubicBezTo>
                  <a:pt x="198438" y="100062"/>
                  <a:pt x="194469" y="92621"/>
                  <a:pt x="187821" y="88205"/>
                </a:cubicBezTo>
                <a:lnTo>
                  <a:pt x="138906" y="55562"/>
                </a:lnTo>
                <a:lnTo>
                  <a:pt x="138906" y="31750"/>
                </a:lnTo>
                <a:lnTo>
                  <a:pt x="154781" y="31750"/>
                </a:lnTo>
                <a:cubicBezTo>
                  <a:pt x="161379" y="31750"/>
                  <a:pt x="166688" y="26442"/>
                  <a:pt x="166688" y="19844"/>
                </a:cubicBezTo>
                <a:cubicBezTo>
                  <a:pt x="166688" y="13246"/>
                  <a:pt x="161379" y="7937"/>
                  <a:pt x="154781" y="7937"/>
                </a:cubicBezTo>
                <a:lnTo>
                  <a:pt x="138906" y="7937"/>
                </a:lnTo>
                <a:lnTo>
                  <a:pt x="138906" y="-3969"/>
                </a:lnTo>
                <a:close/>
                <a:moveTo>
                  <a:pt x="127000" y="158750"/>
                </a:moveTo>
                <a:cubicBezTo>
                  <a:pt x="144512" y="158750"/>
                  <a:pt x="158750" y="172988"/>
                  <a:pt x="158750" y="190500"/>
                </a:cubicBezTo>
                <a:lnTo>
                  <a:pt x="158750" y="230188"/>
                </a:lnTo>
                <a:lnTo>
                  <a:pt x="95250" y="230188"/>
                </a:lnTo>
                <a:lnTo>
                  <a:pt x="95250" y="190500"/>
                </a:lnTo>
                <a:cubicBezTo>
                  <a:pt x="95250" y="172988"/>
                  <a:pt x="109488" y="158750"/>
                  <a:pt x="127000" y="15875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1879600"/>
            <a:ext cx="836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NTCC Music App Ecosystem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336800"/>
            <a:ext cx="866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UnityMediaPipe.ts integrates seamlessly with the existing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NTCC Music App MIDI infrastructure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Detected conductor blinks generate tempo events that synchronize multiple worship systems: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4203700" cy="1219200"/>
          </a:xfrm>
          <a:prstGeom prst="roundRect">
            <a:avLst>
              <a:gd name="adj" fmla="val 8333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9800" y="3606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8914" y="30202"/>
                </a:moveTo>
                <a:cubicBezTo>
                  <a:pt x="203319" y="27305"/>
                  <a:pt x="204549" y="21431"/>
                  <a:pt x="201652" y="17026"/>
                </a:cubicBezTo>
                <a:cubicBezTo>
                  <a:pt x="198755" y="12621"/>
                  <a:pt x="192881" y="11390"/>
                  <a:pt x="188476" y="14287"/>
                </a:cubicBezTo>
                <a:lnTo>
                  <a:pt x="146923" y="41473"/>
                </a:lnTo>
                <a:cubicBezTo>
                  <a:pt x="133271" y="39172"/>
                  <a:pt x="117872" y="38100"/>
                  <a:pt x="101600" y="38100"/>
                </a:cubicBezTo>
                <a:cubicBezTo>
                  <a:pt x="45482" y="38100"/>
                  <a:pt x="0" y="50800"/>
                  <a:pt x="0" y="82550"/>
                </a:cubicBezTo>
                <a:lnTo>
                  <a:pt x="0" y="146050"/>
                </a:lnTo>
                <a:cubicBezTo>
                  <a:pt x="0" y="158472"/>
                  <a:pt x="10874" y="169386"/>
                  <a:pt x="28575" y="177284"/>
                </a:cubicBezTo>
                <a:lnTo>
                  <a:pt x="28575" y="136525"/>
                </a:lnTo>
                <a:cubicBezTo>
                  <a:pt x="28575" y="131247"/>
                  <a:pt x="32822" y="127000"/>
                  <a:pt x="38100" y="127000"/>
                </a:cubicBezTo>
                <a:cubicBezTo>
                  <a:pt x="43378" y="127000"/>
                  <a:pt x="47625" y="131247"/>
                  <a:pt x="47625" y="136525"/>
                </a:cubicBezTo>
                <a:lnTo>
                  <a:pt x="47625" y="183912"/>
                </a:lnTo>
                <a:cubicBezTo>
                  <a:pt x="60722" y="187444"/>
                  <a:pt x="75843" y="189667"/>
                  <a:pt x="92075" y="190302"/>
                </a:cubicBezTo>
                <a:lnTo>
                  <a:pt x="92075" y="149225"/>
                </a:lnTo>
                <a:cubicBezTo>
                  <a:pt x="92075" y="143947"/>
                  <a:pt x="96322" y="139700"/>
                  <a:pt x="101600" y="139700"/>
                </a:cubicBezTo>
                <a:cubicBezTo>
                  <a:pt x="106878" y="139700"/>
                  <a:pt x="111125" y="143947"/>
                  <a:pt x="111125" y="149225"/>
                </a:cubicBezTo>
                <a:lnTo>
                  <a:pt x="111125" y="190302"/>
                </a:lnTo>
                <a:cubicBezTo>
                  <a:pt x="127357" y="189667"/>
                  <a:pt x="142478" y="187444"/>
                  <a:pt x="155575" y="183912"/>
                </a:cubicBezTo>
                <a:lnTo>
                  <a:pt x="155575" y="136525"/>
                </a:lnTo>
                <a:cubicBezTo>
                  <a:pt x="155575" y="131247"/>
                  <a:pt x="159822" y="127000"/>
                  <a:pt x="165100" y="127000"/>
                </a:cubicBezTo>
                <a:cubicBezTo>
                  <a:pt x="170378" y="127000"/>
                  <a:pt x="174625" y="131247"/>
                  <a:pt x="174625" y="136525"/>
                </a:cubicBezTo>
                <a:lnTo>
                  <a:pt x="174625" y="177284"/>
                </a:lnTo>
                <a:cubicBezTo>
                  <a:pt x="192326" y="169386"/>
                  <a:pt x="203200" y="158472"/>
                  <a:pt x="203200" y="146050"/>
                </a:cubicBezTo>
                <a:lnTo>
                  <a:pt x="203200" y="82550"/>
                </a:lnTo>
                <a:cubicBezTo>
                  <a:pt x="203200" y="66238"/>
                  <a:pt x="191214" y="54967"/>
                  <a:pt x="171926" y="47863"/>
                </a:cubicBezTo>
                <a:lnTo>
                  <a:pt x="198874" y="30202"/>
                </a:lnTo>
                <a:close/>
                <a:moveTo>
                  <a:pt x="121999" y="57785"/>
                </a:moveTo>
                <a:lnTo>
                  <a:pt x="96361" y="74573"/>
                </a:lnTo>
                <a:cubicBezTo>
                  <a:pt x="91956" y="77470"/>
                  <a:pt x="90726" y="83344"/>
                  <a:pt x="93623" y="87749"/>
                </a:cubicBezTo>
                <a:cubicBezTo>
                  <a:pt x="96520" y="92154"/>
                  <a:pt x="102394" y="93385"/>
                  <a:pt x="106799" y="90487"/>
                </a:cubicBezTo>
                <a:lnTo>
                  <a:pt x="150892" y="61595"/>
                </a:lnTo>
                <a:cubicBezTo>
                  <a:pt x="156726" y="62865"/>
                  <a:pt x="161965" y="64373"/>
                  <a:pt x="166529" y="66159"/>
                </a:cubicBezTo>
                <a:cubicBezTo>
                  <a:pt x="181927" y="72152"/>
                  <a:pt x="184150" y="78303"/>
                  <a:pt x="184150" y="82550"/>
                </a:cubicBezTo>
                <a:cubicBezTo>
                  <a:pt x="184150" y="82868"/>
                  <a:pt x="183078" y="89376"/>
                  <a:pt x="165894" y="96798"/>
                </a:cubicBezTo>
                <a:cubicBezTo>
                  <a:pt x="150455" y="103465"/>
                  <a:pt x="127794" y="107950"/>
                  <a:pt x="101600" y="107950"/>
                </a:cubicBezTo>
                <a:cubicBezTo>
                  <a:pt x="75406" y="107950"/>
                  <a:pt x="52745" y="103465"/>
                  <a:pt x="37306" y="96798"/>
                </a:cubicBezTo>
                <a:cubicBezTo>
                  <a:pt x="20122" y="89376"/>
                  <a:pt x="19050" y="82868"/>
                  <a:pt x="19050" y="82550"/>
                </a:cubicBezTo>
                <a:cubicBezTo>
                  <a:pt x="19050" y="78343"/>
                  <a:pt x="21273" y="72152"/>
                  <a:pt x="36671" y="66159"/>
                </a:cubicBezTo>
                <a:cubicBezTo>
                  <a:pt x="51872" y="60246"/>
                  <a:pt x="74533" y="57150"/>
                  <a:pt x="101600" y="57150"/>
                </a:cubicBezTo>
                <a:cubicBezTo>
                  <a:pt x="108744" y="57150"/>
                  <a:pt x="115530" y="57348"/>
                  <a:pt x="121999" y="57785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355600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 Tracks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962400"/>
            <a:ext cx="3987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tempo updates for worship band in-ear monitors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80" y="3403600"/>
            <a:ext cx="4203700" cy="1219200"/>
          </a:xfrm>
          <a:prstGeom prst="roundRect">
            <a:avLst>
              <a:gd name="adj" fmla="val 8333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285780" y="36068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25400" y="38100"/>
                </a:moveTo>
                <a:lnTo>
                  <a:pt x="25400" y="133350"/>
                </a:lnTo>
                <a:lnTo>
                  <a:pt x="203200" y="133350"/>
                </a:lnTo>
                <a:lnTo>
                  <a:pt x="203200" y="38100"/>
                </a:lnTo>
                <a:lnTo>
                  <a:pt x="25400" y="38100"/>
                </a:lnTo>
                <a:close/>
                <a:moveTo>
                  <a:pt x="0" y="38100"/>
                </a:moveTo>
                <a:cubicBezTo>
                  <a:pt x="0" y="24090"/>
                  <a:pt x="11390" y="12700"/>
                  <a:pt x="25400" y="12700"/>
                </a:cubicBezTo>
                <a:lnTo>
                  <a:pt x="203200" y="12700"/>
                </a:lnTo>
                <a:cubicBezTo>
                  <a:pt x="217210" y="12700"/>
                  <a:pt x="228600" y="24090"/>
                  <a:pt x="228600" y="38100"/>
                </a:cubicBezTo>
                <a:lnTo>
                  <a:pt x="228600" y="133350"/>
                </a:lnTo>
                <a:cubicBezTo>
                  <a:pt x="228600" y="147360"/>
                  <a:pt x="217210" y="158750"/>
                  <a:pt x="203200" y="158750"/>
                </a:cubicBezTo>
                <a:lnTo>
                  <a:pt x="25400" y="158750"/>
                </a:lnTo>
                <a:cubicBezTo>
                  <a:pt x="11390" y="158750"/>
                  <a:pt x="0" y="147360"/>
                  <a:pt x="0" y="133350"/>
                </a:cubicBezTo>
                <a:lnTo>
                  <a:pt x="0" y="38100"/>
                </a:lnTo>
                <a:close/>
                <a:moveTo>
                  <a:pt x="63500" y="177800"/>
                </a:moveTo>
                <a:lnTo>
                  <a:pt x="165100" y="177800"/>
                </a:lnTo>
                <a:cubicBezTo>
                  <a:pt x="172125" y="177800"/>
                  <a:pt x="177800" y="183475"/>
                  <a:pt x="177800" y="190500"/>
                </a:cubicBezTo>
                <a:cubicBezTo>
                  <a:pt x="177800" y="197525"/>
                  <a:pt x="172125" y="203200"/>
                  <a:pt x="165100" y="203200"/>
                </a:cubicBezTo>
                <a:lnTo>
                  <a:pt x="63500" y="203200"/>
                </a:lnTo>
                <a:cubicBezTo>
                  <a:pt x="56475" y="203200"/>
                  <a:pt x="50800" y="197525"/>
                  <a:pt x="50800" y="190500"/>
                </a:cubicBezTo>
                <a:cubicBezTo>
                  <a:pt x="50800" y="183475"/>
                  <a:pt x="56475" y="177800"/>
                  <a:pt x="63500" y="17780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16" name="Text 14"/>
          <p:cNvSpPr/>
          <p:nvPr/>
        </p:nvSpPr>
        <p:spPr>
          <a:xfrm>
            <a:off x="5628680" y="3556000"/>
            <a:ext cx="158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Lyric Projection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73080" y="3962400"/>
            <a:ext cx="3987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Auto-advance lyrics based on conductor's tempo changes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775200"/>
            <a:ext cx="4203700" cy="1219200"/>
          </a:xfrm>
          <a:prstGeom prst="roundRect">
            <a:avLst>
              <a:gd name="adj" fmla="val 8333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5200" y="49784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0" name="Text 18"/>
          <p:cNvSpPr/>
          <p:nvPr/>
        </p:nvSpPr>
        <p:spPr>
          <a:xfrm>
            <a:off x="1270000" y="4927600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Lighting Cues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334000"/>
            <a:ext cx="3987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 stage lighting transitions with musical sections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20680" y="4775200"/>
            <a:ext cx="4203700" cy="1219200"/>
          </a:xfrm>
          <a:prstGeom prst="roundRect">
            <a:avLst>
              <a:gd name="adj" fmla="val 8333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298480" y="4978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85738" y="2778"/>
                </a:moveTo>
                <a:cubicBezTo>
                  <a:pt x="188754" y="5199"/>
                  <a:pt x="190500" y="8850"/>
                  <a:pt x="190500" y="12700"/>
                </a:cubicBezTo>
                <a:lnTo>
                  <a:pt x="190500" y="133350"/>
                </a:lnTo>
                <a:cubicBezTo>
                  <a:pt x="190500" y="150892"/>
                  <a:pt x="173434" y="165100"/>
                  <a:pt x="152400" y="165100"/>
                </a:cubicBezTo>
                <a:cubicBezTo>
                  <a:pt x="131366" y="165100"/>
                  <a:pt x="114300" y="150892"/>
                  <a:pt x="114300" y="133350"/>
                </a:cubicBezTo>
                <a:cubicBezTo>
                  <a:pt x="114300" y="115808"/>
                  <a:pt x="131366" y="101600"/>
                  <a:pt x="152400" y="101600"/>
                </a:cubicBezTo>
                <a:cubicBezTo>
                  <a:pt x="156845" y="101600"/>
                  <a:pt x="161131" y="102235"/>
                  <a:pt x="165100" y="103426"/>
                </a:cubicBezTo>
                <a:lnTo>
                  <a:pt x="165100" y="57110"/>
                </a:lnTo>
                <a:lnTo>
                  <a:pt x="76200" y="76875"/>
                </a:lnTo>
                <a:lnTo>
                  <a:pt x="76200" y="158750"/>
                </a:lnTo>
                <a:cubicBezTo>
                  <a:pt x="76200" y="176292"/>
                  <a:pt x="59134" y="190500"/>
                  <a:pt x="38100" y="190500"/>
                </a:cubicBezTo>
                <a:cubicBezTo>
                  <a:pt x="17066" y="190500"/>
                  <a:pt x="0" y="176292"/>
                  <a:pt x="0" y="158750"/>
                </a:cubicBezTo>
                <a:cubicBezTo>
                  <a:pt x="0" y="141208"/>
                  <a:pt x="17066" y="127000"/>
                  <a:pt x="38100" y="127000"/>
                </a:cubicBezTo>
                <a:cubicBezTo>
                  <a:pt x="42545" y="127000"/>
                  <a:pt x="46831" y="127635"/>
                  <a:pt x="50800" y="128826"/>
                </a:cubicBezTo>
                <a:lnTo>
                  <a:pt x="50800" y="38100"/>
                </a:lnTo>
                <a:cubicBezTo>
                  <a:pt x="50800" y="32147"/>
                  <a:pt x="54928" y="26988"/>
                  <a:pt x="60762" y="25717"/>
                </a:cubicBezTo>
                <a:lnTo>
                  <a:pt x="175062" y="317"/>
                </a:lnTo>
                <a:cubicBezTo>
                  <a:pt x="178832" y="-516"/>
                  <a:pt x="182761" y="397"/>
                  <a:pt x="185777" y="2818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4" name="Text 22"/>
          <p:cNvSpPr/>
          <p:nvPr/>
        </p:nvSpPr>
        <p:spPr>
          <a:xfrm>
            <a:off x="5628680" y="4927600"/>
            <a:ext cx="154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Backing Tracks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73080" y="5334000"/>
            <a:ext cx="3987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Synchronize pre-recorded elements with live performance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6350000"/>
            <a:ext cx="8991600" cy="2997200"/>
          </a:xfrm>
          <a:custGeom>
            <a:avLst/>
            <a:gdLst/>
            <a:ahLst/>
            <a:cxnLst/>
            <a:rect l="l" t="t" r="r" b="b"/>
            <a:pathLst>
              <a:path w="8991600" h="29972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2895600"/>
                </a:lnTo>
                <a:cubicBezTo>
                  <a:pt x="8991600" y="2951675"/>
                  <a:pt x="8946075" y="2997200"/>
                  <a:pt x="8890000" y="2997200"/>
                </a:cubicBezTo>
                <a:lnTo>
                  <a:pt x="0" y="29972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33400" y="6350000"/>
            <a:ext cx="50800" cy="2997200"/>
          </a:xfrm>
          <a:prstGeom prst="roundRect">
            <a:avLst>
              <a:gd name="adj" fmla="val 0"/>
            </a:avLst>
          </a:prstGeom>
          <a:solidFill>
            <a:srgbClr val="A9B4C2"/>
          </a:solidFill>
          <a:ln/>
        </p:spPr>
      </p:sp>
      <p:sp>
        <p:nvSpPr>
          <p:cNvPr id="28" name="Shape 26"/>
          <p:cNvSpPr/>
          <p:nvPr/>
        </p:nvSpPr>
        <p:spPr>
          <a:xfrm>
            <a:off x="793750" y="660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97693" y="6052"/>
                </a:moveTo>
                <a:lnTo>
                  <a:pt x="153938" y="49808"/>
                </a:lnTo>
                <a:lnTo>
                  <a:pt x="204192" y="100062"/>
                </a:lnTo>
                <a:lnTo>
                  <a:pt x="247948" y="56307"/>
                </a:lnTo>
                <a:cubicBezTo>
                  <a:pt x="251817" y="52388"/>
                  <a:pt x="254000" y="47129"/>
                  <a:pt x="254000" y="41672"/>
                </a:cubicBezTo>
                <a:cubicBezTo>
                  <a:pt x="254000" y="36215"/>
                  <a:pt x="251817" y="30956"/>
                  <a:pt x="247948" y="27037"/>
                </a:cubicBezTo>
                <a:lnTo>
                  <a:pt x="226963" y="6052"/>
                </a:lnTo>
                <a:cubicBezTo>
                  <a:pt x="223044" y="2183"/>
                  <a:pt x="217785" y="0"/>
                  <a:pt x="212328" y="0"/>
                </a:cubicBezTo>
                <a:cubicBezTo>
                  <a:pt x="206871" y="0"/>
                  <a:pt x="201613" y="2183"/>
                  <a:pt x="197693" y="6052"/>
                </a:cubicBezTo>
                <a:close/>
                <a:moveTo>
                  <a:pt x="137120" y="66625"/>
                </a:moveTo>
                <a:lnTo>
                  <a:pt x="6052" y="197693"/>
                </a:lnTo>
                <a:cubicBezTo>
                  <a:pt x="2183" y="201613"/>
                  <a:pt x="0" y="206871"/>
                  <a:pt x="0" y="212328"/>
                </a:cubicBezTo>
                <a:cubicBezTo>
                  <a:pt x="0" y="217785"/>
                  <a:pt x="2183" y="223044"/>
                  <a:pt x="6052" y="226963"/>
                </a:cubicBezTo>
                <a:lnTo>
                  <a:pt x="27037" y="247948"/>
                </a:lnTo>
                <a:cubicBezTo>
                  <a:pt x="30956" y="251817"/>
                  <a:pt x="36215" y="254000"/>
                  <a:pt x="41672" y="254000"/>
                </a:cubicBezTo>
                <a:cubicBezTo>
                  <a:pt x="47129" y="254000"/>
                  <a:pt x="52388" y="251817"/>
                  <a:pt x="56307" y="247948"/>
                </a:cubicBezTo>
                <a:lnTo>
                  <a:pt x="187375" y="116880"/>
                </a:lnTo>
                <a:lnTo>
                  <a:pt x="137120" y="66625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9" name="Text 27"/>
          <p:cNvSpPr/>
          <p:nvPr/>
        </p:nvSpPr>
        <p:spPr>
          <a:xfrm>
            <a:off x="1079500" y="6553200"/>
            <a:ext cx="836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Worship Features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4700" y="70612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1" name="Text 29"/>
          <p:cNvSpPr/>
          <p:nvPr/>
        </p:nvSpPr>
        <p:spPr>
          <a:xfrm>
            <a:off x="1117600" y="7010400"/>
            <a:ext cx="8305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Spontaneous Worship: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 adapts to unplanned tempo changes during prayer or worship moments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7400" y="7772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59769"/>
                </a:moveTo>
                <a:lnTo>
                  <a:pt x="161369" y="97869"/>
                </a:lnTo>
                <a:cubicBezTo>
                  <a:pt x="157718" y="101521"/>
                  <a:pt x="152281" y="102592"/>
                  <a:pt x="147518" y="100608"/>
                </a:cubicBezTo>
                <a:cubicBezTo>
                  <a:pt x="142756" y="98623"/>
                  <a:pt x="139700" y="94020"/>
                  <a:pt x="139700" y="88900"/>
                </a:cubicBezTo>
                <a:lnTo>
                  <a:pt x="139700" y="63500"/>
                </a:lnTo>
                <a:lnTo>
                  <a:pt x="12700" y="63500"/>
                </a:lnTo>
                <a:cubicBezTo>
                  <a:pt x="5675" y="63500"/>
                  <a:pt x="0" y="57825"/>
                  <a:pt x="0" y="50800"/>
                </a:cubicBezTo>
                <a:cubicBezTo>
                  <a:pt x="0" y="43775"/>
                  <a:pt x="5675" y="38100"/>
                  <a:pt x="12700" y="38100"/>
                </a:cubicBezTo>
                <a:lnTo>
                  <a:pt x="139700" y="38100"/>
                </a:lnTo>
                <a:lnTo>
                  <a:pt x="139700" y="12700"/>
                </a:lnTo>
                <a:cubicBezTo>
                  <a:pt x="139700" y="7580"/>
                  <a:pt x="142796" y="2937"/>
                  <a:pt x="147558" y="952"/>
                </a:cubicBezTo>
                <a:cubicBezTo>
                  <a:pt x="152321" y="-1032"/>
                  <a:pt x="157758" y="79"/>
                  <a:pt x="161409" y="3691"/>
                </a:cubicBezTo>
                <a:lnTo>
                  <a:pt x="199509" y="41791"/>
                </a:lnTo>
                <a:cubicBezTo>
                  <a:pt x="204470" y="46752"/>
                  <a:pt x="204470" y="54808"/>
                  <a:pt x="199509" y="59769"/>
                </a:cubicBezTo>
                <a:close/>
                <a:moveTo>
                  <a:pt x="41791" y="199469"/>
                </a:moveTo>
                <a:lnTo>
                  <a:pt x="3691" y="161369"/>
                </a:lnTo>
                <a:cubicBezTo>
                  <a:pt x="-1270" y="156408"/>
                  <a:pt x="-1270" y="148352"/>
                  <a:pt x="3691" y="143391"/>
                </a:cubicBezTo>
                <a:lnTo>
                  <a:pt x="41791" y="105291"/>
                </a:lnTo>
                <a:cubicBezTo>
                  <a:pt x="45442" y="101640"/>
                  <a:pt x="50879" y="100568"/>
                  <a:pt x="55642" y="102553"/>
                </a:cubicBezTo>
                <a:cubicBezTo>
                  <a:pt x="60404" y="104537"/>
                  <a:pt x="63500" y="109180"/>
                  <a:pt x="63500" y="114300"/>
                </a:cubicBezTo>
                <a:lnTo>
                  <a:pt x="63500" y="139700"/>
                </a:lnTo>
                <a:lnTo>
                  <a:pt x="190500" y="139700"/>
                </a:lnTo>
                <a:cubicBezTo>
                  <a:pt x="197525" y="139700"/>
                  <a:pt x="203200" y="145375"/>
                  <a:pt x="203200" y="152400"/>
                </a:cubicBezTo>
                <a:cubicBezTo>
                  <a:pt x="203200" y="159425"/>
                  <a:pt x="197525" y="165100"/>
                  <a:pt x="190500" y="165100"/>
                </a:cubicBezTo>
                <a:lnTo>
                  <a:pt x="63500" y="165100"/>
                </a:lnTo>
                <a:lnTo>
                  <a:pt x="63500" y="190500"/>
                </a:lnTo>
                <a:cubicBezTo>
                  <a:pt x="63500" y="195620"/>
                  <a:pt x="60404" y="200263"/>
                  <a:pt x="55642" y="202248"/>
                </a:cubicBezTo>
                <a:cubicBezTo>
                  <a:pt x="50879" y="204232"/>
                  <a:pt x="45442" y="203121"/>
                  <a:pt x="41791" y="199509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3" name="Text 31"/>
          <p:cNvSpPr/>
          <p:nvPr/>
        </p:nvSpPr>
        <p:spPr>
          <a:xfrm>
            <a:off x="1117600" y="7721600"/>
            <a:ext cx="8305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Transitions: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Automatic detection of verse/chorus/bridge changes via tempo patterns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87400" y="8483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  <a:moveTo>
                  <a:pt x="114300" y="38100"/>
                </a:moveTo>
                <a:cubicBezTo>
                  <a:pt x="114300" y="31091"/>
                  <a:pt x="108609" y="25400"/>
                  <a:pt x="101600" y="25400"/>
                </a:cubicBezTo>
                <a:cubicBezTo>
                  <a:pt x="94591" y="25400"/>
                  <a:pt x="88900" y="31091"/>
                  <a:pt x="88900" y="38100"/>
                </a:cubicBezTo>
                <a:cubicBezTo>
                  <a:pt x="88900" y="45109"/>
                  <a:pt x="94591" y="50800"/>
                  <a:pt x="101600" y="50800"/>
                </a:cubicBezTo>
                <a:cubicBezTo>
                  <a:pt x="108609" y="50800"/>
                  <a:pt x="114300" y="45109"/>
                  <a:pt x="114300" y="38100"/>
                </a:cubicBezTo>
                <a:close/>
                <a:moveTo>
                  <a:pt x="101600" y="165100"/>
                </a:moveTo>
                <a:cubicBezTo>
                  <a:pt x="115610" y="165100"/>
                  <a:pt x="127000" y="153710"/>
                  <a:pt x="127000" y="139700"/>
                </a:cubicBezTo>
                <a:cubicBezTo>
                  <a:pt x="127000" y="133271"/>
                  <a:pt x="124619" y="127357"/>
                  <a:pt x="120650" y="122912"/>
                </a:cubicBezTo>
                <a:lnTo>
                  <a:pt x="148233" y="67786"/>
                </a:lnTo>
                <a:cubicBezTo>
                  <a:pt x="150574" y="63063"/>
                  <a:pt x="148669" y="57348"/>
                  <a:pt x="143986" y="55007"/>
                </a:cubicBezTo>
                <a:cubicBezTo>
                  <a:pt x="139303" y="52665"/>
                  <a:pt x="133548" y="54570"/>
                  <a:pt x="131207" y="59253"/>
                </a:cubicBezTo>
                <a:lnTo>
                  <a:pt x="103624" y="114379"/>
                </a:lnTo>
                <a:cubicBezTo>
                  <a:pt x="102949" y="114340"/>
                  <a:pt x="102275" y="114300"/>
                  <a:pt x="101600" y="114300"/>
                </a:cubicBezTo>
                <a:cubicBezTo>
                  <a:pt x="87590" y="114300"/>
                  <a:pt x="76200" y="125690"/>
                  <a:pt x="76200" y="139700"/>
                </a:cubicBezTo>
                <a:cubicBezTo>
                  <a:pt x="76200" y="153710"/>
                  <a:pt x="87590" y="165100"/>
                  <a:pt x="101600" y="165100"/>
                </a:cubicBezTo>
                <a:close/>
                <a:moveTo>
                  <a:pt x="69850" y="57150"/>
                </a:moveTo>
                <a:cubicBezTo>
                  <a:pt x="69850" y="50141"/>
                  <a:pt x="64159" y="44450"/>
                  <a:pt x="57150" y="44450"/>
                </a:cubicBezTo>
                <a:cubicBezTo>
                  <a:pt x="50141" y="44450"/>
                  <a:pt x="44450" y="50141"/>
                  <a:pt x="44450" y="57150"/>
                </a:cubicBezTo>
                <a:cubicBezTo>
                  <a:pt x="44450" y="64159"/>
                  <a:pt x="50141" y="69850"/>
                  <a:pt x="57150" y="69850"/>
                </a:cubicBezTo>
                <a:cubicBezTo>
                  <a:pt x="64159" y="69850"/>
                  <a:pt x="69850" y="64159"/>
                  <a:pt x="69850" y="57150"/>
                </a:cubicBezTo>
                <a:close/>
                <a:moveTo>
                  <a:pt x="38100" y="114300"/>
                </a:moveTo>
                <a:cubicBezTo>
                  <a:pt x="45109" y="114300"/>
                  <a:pt x="50800" y="108609"/>
                  <a:pt x="50800" y="101600"/>
                </a:cubicBezTo>
                <a:cubicBezTo>
                  <a:pt x="50800" y="94591"/>
                  <a:pt x="45109" y="88900"/>
                  <a:pt x="38100" y="88900"/>
                </a:cubicBezTo>
                <a:cubicBezTo>
                  <a:pt x="31091" y="88900"/>
                  <a:pt x="25400" y="94591"/>
                  <a:pt x="25400" y="101600"/>
                </a:cubicBezTo>
                <a:cubicBezTo>
                  <a:pt x="25400" y="108609"/>
                  <a:pt x="31091" y="114300"/>
                  <a:pt x="38100" y="114300"/>
                </a:cubicBezTo>
                <a:close/>
                <a:moveTo>
                  <a:pt x="177800" y="101600"/>
                </a:moveTo>
                <a:cubicBezTo>
                  <a:pt x="177800" y="94591"/>
                  <a:pt x="172109" y="88900"/>
                  <a:pt x="165100" y="88900"/>
                </a:cubicBezTo>
                <a:cubicBezTo>
                  <a:pt x="158091" y="88900"/>
                  <a:pt x="152400" y="94591"/>
                  <a:pt x="152400" y="101600"/>
                </a:cubicBezTo>
                <a:cubicBezTo>
                  <a:pt x="152400" y="108609"/>
                  <a:pt x="158091" y="114300"/>
                  <a:pt x="165100" y="114300"/>
                </a:cubicBezTo>
                <a:cubicBezTo>
                  <a:pt x="172109" y="114300"/>
                  <a:pt x="177800" y="108609"/>
                  <a:pt x="177800" y="10160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5" name="Text 33"/>
          <p:cNvSpPr/>
          <p:nvPr/>
        </p:nvSpPr>
        <p:spPr>
          <a:xfrm>
            <a:off x="1117600" y="8432800"/>
            <a:ext cx="826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Ritardando/Accelerando: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Detects gradual tempo changes for expressive musical passages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87400" y="8890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76200"/>
                </a:moveTo>
                <a:lnTo>
                  <a:pt x="88900" y="127000"/>
                </a:lnTo>
                <a:cubicBezTo>
                  <a:pt x="88900" y="134025"/>
                  <a:pt x="83225" y="139700"/>
                  <a:pt x="76200" y="139700"/>
                </a:cubicBezTo>
                <a:cubicBezTo>
                  <a:pt x="69175" y="139700"/>
                  <a:pt x="63500" y="134025"/>
                  <a:pt x="63500" y="127000"/>
                </a:cubicBezTo>
                <a:lnTo>
                  <a:pt x="63500" y="76200"/>
                </a:lnTo>
                <a:cubicBezTo>
                  <a:pt x="63500" y="69175"/>
                  <a:pt x="69175" y="63500"/>
                  <a:pt x="76200" y="63500"/>
                </a:cubicBezTo>
                <a:cubicBezTo>
                  <a:pt x="83225" y="63500"/>
                  <a:pt x="88900" y="69175"/>
                  <a:pt x="88900" y="76200"/>
                </a:cubicBezTo>
                <a:close/>
                <a:moveTo>
                  <a:pt x="139700" y="76200"/>
                </a:moveTo>
                <a:lnTo>
                  <a:pt x="139700" y="127000"/>
                </a:lnTo>
                <a:cubicBezTo>
                  <a:pt x="139700" y="134025"/>
                  <a:pt x="134025" y="139700"/>
                  <a:pt x="127000" y="139700"/>
                </a:cubicBezTo>
                <a:cubicBezTo>
                  <a:pt x="119975" y="139700"/>
                  <a:pt x="114300" y="134025"/>
                  <a:pt x="114300" y="127000"/>
                </a:cubicBezTo>
                <a:lnTo>
                  <a:pt x="114300" y="76200"/>
                </a:lnTo>
                <a:cubicBezTo>
                  <a:pt x="114300" y="69175"/>
                  <a:pt x="119975" y="63500"/>
                  <a:pt x="127000" y="63500"/>
                </a:cubicBezTo>
                <a:cubicBezTo>
                  <a:pt x="134025" y="63500"/>
                  <a:pt x="139700" y="69175"/>
                  <a:pt x="139700" y="7620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7" name="Text 35"/>
          <p:cNvSpPr/>
          <p:nvPr/>
        </p:nvSpPr>
        <p:spPr>
          <a:xfrm>
            <a:off x="1117600" y="8839200"/>
            <a:ext cx="608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Pause Detection: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Recognizes intentional musical pauses and holds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733359" y="1676400"/>
            <a:ext cx="6019800" cy="6883400"/>
          </a:xfrm>
          <a:prstGeom prst="roundRect">
            <a:avLst>
              <a:gd name="adj" fmla="val 1688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879409" y="1879600"/>
            <a:ext cx="572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Worship Technology Context</a:t>
            </a:r>
            <a:endParaRPr lang="en-US" sz="1600" dirty="0"/>
          </a:p>
        </p:txBody>
      </p:sp>
      <p:pic>
        <p:nvPicPr>
          <p:cNvPr id="40" name="Image 0" descr="https://kimi-web-img.moonshot.cn/img/www.worshipteamcoach.com/19c684f6ff591ba5c2814c64fdf2d33b8ca24229.jpg">    </p:cNvPr>
          <p:cNvPicPr>
            <a:picLocks noChangeAspect="1"/>
          </p:cNvPicPr>
          <p:nvPr/>
        </p:nvPicPr>
        <p:blipFill>
          <a:blip r:embed="rId1"/>
          <a:srcRect l="21889" r="21889" t="0" b="0"/>
          <a:stretch/>
        </p:blipFill>
        <p:spPr>
          <a:xfrm>
            <a:off x="9936559" y="2387600"/>
            <a:ext cx="5562600" cy="5562600"/>
          </a:xfrm>
          <a:prstGeom prst="roundRect">
            <a:avLst>
              <a:gd name="adj" fmla="val 1826"/>
            </a:avLst>
          </a:prstGeom>
        </p:spPr>
      </p:pic>
      <p:sp>
        <p:nvSpPr>
          <p:cNvPr id="41" name="Text 38"/>
          <p:cNvSpPr/>
          <p:nvPr/>
        </p:nvSpPr>
        <p:spPr>
          <a:xfrm>
            <a:off x="9892109" y="8097441"/>
            <a:ext cx="570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worship band with technology integration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9733359" y="8707041"/>
            <a:ext cx="6019800" cy="4470400"/>
          </a:xfrm>
          <a:prstGeom prst="roundRect">
            <a:avLst>
              <a:gd name="adj" fmla="val 2273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9936559" y="8910241"/>
            <a:ext cx="572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Architecture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9936559" y="9418241"/>
            <a:ext cx="5613400" cy="914400"/>
          </a:xfrm>
          <a:prstGeom prst="roundRect">
            <a:avLst>
              <a:gd name="adj" fmla="val 11111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10088959" y="9570641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Layer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0088959" y="9926241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Webcam/USB camera capturing conductor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12664480" y="10434241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67231" y="199469"/>
                </a:moveTo>
                <a:cubicBezTo>
                  <a:pt x="72192" y="204430"/>
                  <a:pt x="80248" y="204430"/>
                  <a:pt x="85209" y="199469"/>
                </a:cubicBezTo>
                <a:lnTo>
                  <a:pt x="148709" y="135969"/>
                </a:lnTo>
                <a:cubicBezTo>
                  <a:pt x="153670" y="131008"/>
                  <a:pt x="153670" y="122952"/>
                  <a:pt x="148709" y="117991"/>
                </a:cubicBezTo>
                <a:cubicBezTo>
                  <a:pt x="143748" y="113030"/>
                  <a:pt x="135692" y="113030"/>
                  <a:pt x="130731" y="117991"/>
                </a:cubicBezTo>
                <a:lnTo>
                  <a:pt x="88900" y="159822"/>
                </a:lnTo>
                <a:lnTo>
                  <a:pt x="88900" y="12700"/>
                </a:lnTo>
                <a:cubicBezTo>
                  <a:pt x="88900" y="5675"/>
                  <a:pt x="83225" y="0"/>
                  <a:pt x="76200" y="0"/>
                </a:cubicBezTo>
                <a:cubicBezTo>
                  <a:pt x="69175" y="0"/>
                  <a:pt x="63500" y="5675"/>
                  <a:pt x="63500" y="12700"/>
                </a:cubicBezTo>
                <a:lnTo>
                  <a:pt x="63500" y="159822"/>
                </a:lnTo>
                <a:lnTo>
                  <a:pt x="21669" y="117991"/>
                </a:lnTo>
                <a:cubicBezTo>
                  <a:pt x="16708" y="113030"/>
                  <a:pt x="8652" y="113030"/>
                  <a:pt x="3691" y="117991"/>
                </a:cubicBezTo>
                <a:cubicBezTo>
                  <a:pt x="-1270" y="122952"/>
                  <a:pt x="-1270" y="131008"/>
                  <a:pt x="3691" y="135969"/>
                </a:cubicBezTo>
                <a:lnTo>
                  <a:pt x="67191" y="199469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48" name="Shape 45"/>
          <p:cNvSpPr/>
          <p:nvPr/>
        </p:nvSpPr>
        <p:spPr>
          <a:xfrm>
            <a:off x="9936559" y="10739041"/>
            <a:ext cx="5613400" cy="914400"/>
          </a:xfrm>
          <a:prstGeom prst="roundRect">
            <a:avLst>
              <a:gd name="adj" fmla="val 11111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10088959" y="10891441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Layer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0088959" y="11247041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UnityMediaPipe.ts (blink → tempo)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2664480" y="11755041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67231" y="199469"/>
                </a:moveTo>
                <a:cubicBezTo>
                  <a:pt x="72192" y="204430"/>
                  <a:pt x="80248" y="204430"/>
                  <a:pt x="85209" y="199469"/>
                </a:cubicBezTo>
                <a:lnTo>
                  <a:pt x="148709" y="135969"/>
                </a:lnTo>
                <a:cubicBezTo>
                  <a:pt x="153670" y="131008"/>
                  <a:pt x="153670" y="122952"/>
                  <a:pt x="148709" y="117991"/>
                </a:cubicBezTo>
                <a:cubicBezTo>
                  <a:pt x="143748" y="113030"/>
                  <a:pt x="135692" y="113030"/>
                  <a:pt x="130731" y="117991"/>
                </a:cubicBezTo>
                <a:lnTo>
                  <a:pt x="88900" y="159822"/>
                </a:lnTo>
                <a:lnTo>
                  <a:pt x="88900" y="12700"/>
                </a:lnTo>
                <a:cubicBezTo>
                  <a:pt x="88900" y="5675"/>
                  <a:pt x="83225" y="0"/>
                  <a:pt x="76200" y="0"/>
                </a:cubicBezTo>
                <a:cubicBezTo>
                  <a:pt x="69175" y="0"/>
                  <a:pt x="63500" y="5675"/>
                  <a:pt x="63500" y="12700"/>
                </a:cubicBezTo>
                <a:lnTo>
                  <a:pt x="63500" y="159822"/>
                </a:lnTo>
                <a:lnTo>
                  <a:pt x="21669" y="117991"/>
                </a:lnTo>
                <a:cubicBezTo>
                  <a:pt x="16708" y="113030"/>
                  <a:pt x="8652" y="113030"/>
                  <a:pt x="3691" y="117991"/>
                </a:cubicBezTo>
                <a:cubicBezTo>
                  <a:pt x="-1270" y="122952"/>
                  <a:pt x="-1270" y="131008"/>
                  <a:pt x="3691" y="135969"/>
                </a:cubicBezTo>
                <a:lnTo>
                  <a:pt x="67191" y="199469"/>
                </a:ln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52" name="Shape 49"/>
          <p:cNvSpPr/>
          <p:nvPr/>
        </p:nvSpPr>
        <p:spPr>
          <a:xfrm>
            <a:off x="9936559" y="12059841"/>
            <a:ext cx="5613400" cy="914400"/>
          </a:xfrm>
          <a:prstGeom prst="roundRect">
            <a:avLst>
              <a:gd name="adj" fmla="val 11111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3" name="Text 50"/>
          <p:cNvSpPr/>
          <p:nvPr/>
        </p:nvSpPr>
        <p:spPr>
          <a:xfrm>
            <a:off x="10088959" y="12212241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Layer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0088959" y="12567841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MIDI API → NTCC Music App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TypeScript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473200"/>
            <a:ext cx="1219200" cy="5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676400"/>
            <a:ext cx="8991600" cy="6197600"/>
          </a:xfrm>
          <a:custGeom>
            <a:avLst/>
            <a:gdLst/>
            <a:ahLst/>
            <a:cxnLst/>
            <a:rect l="l" t="t" r="r" b="b"/>
            <a:pathLst>
              <a:path w="8991600" h="6197600">
                <a:moveTo>
                  <a:pt x="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6096000"/>
                </a:lnTo>
                <a:cubicBezTo>
                  <a:pt x="8991600" y="6152075"/>
                  <a:pt x="8946075" y="6197600"/>
                  <a:pt x="8890000" y="6197600"/>
                </a:cubicBezTo>
                <a:lnTo>
                  <a:pt x="0" y="61976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61976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796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Class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87600"/>
            <a:ext cx="8661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UnityMediaPipe.ts implements a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clean, modular architecture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5 core classes, each responsible for a specific processing stage: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400" y="3149600"/>
            <a:ext cx="8534400" cy="1524000"/>
          </a:xfrm>
          <a:custGeom>
            <a:avLst/>
            <a:gdLst/>
            <a:ahLst/>
            <a:cxnLst/>
            <a:rect l="l" t="t" r="r" b="b"/>
            <a:pathLst>
              <a:path w="8534400" h="1524000">
                <a:moveTo>
                  <a:pt x="50800" y="0"/>
                </a:moveTo>
                <a:lnTo>
                  <a:pt x="8432800" y="0"/>
                </a:lnTo>
                <a:cubicBezTo>
                  <a:pt x="8488875" y="0"/>
                  <a:pt x="8534400" y="45525"/>
                  <a:pt x="8534400" y="101600"/>
                </a:cubicBezTo>
                <a:lnTo>
                  <a:pt x="8534400" y="1422400"/>
                </a:lnTo>
                <a:cubicBezTo>
                  <a:pt x="8534400" y="1478475"/>
                  <a:pt x="8488875" y="1524000"/>
                  <a:pt x="8432800" y="1524000"/>
                </a:cubicBez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87400" y="31496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5080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11" name="Shape 9"/>
          <p:cNvSpPr/>
          <p:nvPr/>
        </p:nvSpPr>
        <p:spPr>
          <a:xfrm>
            <a:off x="965200" y="33528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9500" y="34925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13" name="Text 11"/>
          <p:cNvSpPr/>
          <p:nvPr/>
        </p:nvSpPr>
        <p:spPr>
          <a:xfrm>
            <a:off x="1625600" y="330200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MediaPipeService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25600" y="3657600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Orchestrator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" y="4013200"/>
            <a:ext cx="8293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Coordinates the entire pipeline: initializes components, manages video stream, and dispatches events to subscribers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" y="4775200"/>
            <a:ext cx="8534400" cy="1524000"/>
          </a:xfrm>
          <a:custGeom>
            <a:avLst/>
            <a:gdLst/>
            <a:ahLst/>
            <a:cxnLst/>
            <a:rect l="l" t="t" r="r" b="b"/>
            <a:pathLst>
              <a:path w="8534400" h="1524000">
                <a:moveTo>
                  <a:pt x="50800" y="0"/>
                </a:moveTo>
                <a:lnTo>
                  <a:pt x="8432800" y="0"/>
                </a:lnTo>
                <a:cubicBezTo>
                  <a:pt x="8488875" y="0"/>
                  <a:pt x="8534400" y="45525"/>
                  <a:pt x="8534400" y="101600"/>
                </a:cubicBezTo>
                <a:lnTo>
                  <a:pt x="8534400" y="1422400"/>
                </a:lnTo>
                <a:cubicBezTo>
                  <a:pt x="8534400" y="1478475"/>
                  <a:pt x="8488875" y="1524000"/>
                  <a:pt x="8432800" y="1524000"/>
                </a:cubicBez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7400" y="47752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5080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18" name="Shape 16"/>
          <p:cNvSpPr/>
          <p:nvPr/>
        </p:nvSpPr>
        <p:spPr>
          <a:xfrm>
            <a:off x="965200" y="4978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A9B4C2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8075" y="5118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20" name="Text 18"/>
          <p:cNvSpPr/>
          <p:nvPr/>
        </p:nvSpPr>
        <p:spPr>
          <a:xfrm>
            <a:off x="1625600" y="4927600"/>
            <a:ext cx="167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FaceDetector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25600" y="52832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Wrapper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5200" y="5638800"/>
            <a:ext cx="8293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Wraps MediaPipe Face Mesh: configures options, processes frames, extracts 468 landmarks with iris refinement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7400" y="6400800"/>
            <a:ext cx="8534400" cy="1270000"/>
          </a:xfrm>
          <a:custGeom>
            <a:avLst/>
            <a:gdLst/>
            <a:ahLst/>
            <a:cxnLst/>
            <a:rect l="l" t="t" r="r" b="b"/>
            <a:pathLst>
              <a:path w="8534400" h="1270000">
                <a:moveTo>
                  <a:pt x="50800" y="0"/>
                </a:moveTo>
                <a:lnTo>
                  <a:pt x="8432800" y="0"/>
                </a:lnTo>
                <a:cubicBezTo>
                  <a:pt x="8488875" y="0"/>
                  <a:pt x="8534400" y="45525"/>
                  <a:pt x="8534400" y="101600"/>
                </a:cubicBezTo>
                <a:lnTo>
                  <a:pt x="8534400" y="1168400"/>
                </a:lnTo>
                <a:cubicBezTo>
                  <a:pt x="8534400" y="1224475"/>
                  <a:pt x="8488875" y="1270000"/>
                  <a:pt x="8432800" y="1270000"/>
                </a:cubicBez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87400" y="64008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5080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5" name="Shape 23"/>
          <p:cNvSpPr/>
          <p:nvPr/>
        </p:nvSpPr>
        <p:spPr>
          <a:xfrm>
            <a:off x="965200" y="66040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93788" y="6743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7" name="Text 25"/>
          <p:cNvSpPr/>
          <p:nvPr/>
        </p:nvSpPr>
        <p:spPr>
          <a:xfrm>
            <a:off x="1625600" y="6553200"/>
            <a:ext cx="157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BlinkDetector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25600" y="690880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 Calculator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5200" y="7264400"/>
            <a:ext cx="829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Computes EAR for both eyes, applies threshold logic with consecutive frame validation, emits blink events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3400" y="8026400"/>
            <a:ext cx="4406900" cy="1219200"/>
          </a:xfrm>
          <a:custGeom>
            <a:avLst/>
            <a:gdLst/>
            <a:ahLst/>
            <a:cxnLst/>
            <a:rect l="l" t="t" r="r" b="b"/>
            <a:pathLst>
              <a:path w="4406900" h="1219200">
                <a:moveTo>
                  <a:pt x="50800" y="0"/>
                </a:moveTo>
                <a:lnTo>
                  <a:pt x="4305300" y="0"/>
                </a:lnTo>
                <a:cubicBezTo>
                  <a:pt x="4361375" y="0"/>
                  <a:pt x="4406900" y="45525"/>
                  <a:pt x="4406900" y="101600"/>
                </a:cubicBezTo>
                <a:lnTo>
                  <a:pt x="4406900" y="1117600"/>
                </a:lnTo>
                <a:cubicBezTo>
                  <a:pt x="4406900" y="1173675"/>
                  <a:pt x="4361375" y="1219200"/>
                  <a:pt x="4305300" y="1219200"/>
                </a:cubicBez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33400" y="80264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2" name="Shape 30"/>
          <p:cNvSpPr/>
          <p:nvPr/>
        </p:nvSpPr>
        <p:spPr>
          <a:xfrm>
            <a:off x="736600" y="822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759" y="0"/>
                </a:moveTo>
                <a:cubicBezTo>
                  <a:pt x="94734" y="0"/>
                  <a:pt x="89059" y="5675"/>
                  <a:pt x="89059" y="12700"/>
                </a:cubicBezTo>
                <a:lnTo>
                  <a:pt x="89059" y="25400"/>
                </a:lnTo>
                <a:lnTo>
                  <a:pt x="25559" y="25400"/>
                </a:lnTo>
                <a:cubicBezTo>
                  <a:pt x="18534" y="25400"/>
                  <a:pt x="12859" y="31075"/>
                  <a:pt x="12859" y="38100"/>
                </a:cubicBezTo>
                <a:lnTo>
                  <a:pt x="12859" y="63500"/>
                </a:lnTo>
                <a:cubicBezTo>
                  <a:pt x="12859" y="70525"/>
                  <a:pt x="18534" y="76200"/>
                  <a:pt x="25559" y="76200"/>
                </a:cubicBezTo>
                <a:lnTo>
                  <a:pt x="89059" y="76200"/>
                </a:lnTo>
                <a:lnTo>
                  <a:pt x="89059" y="101600"/>
                </a:lnTo>
                <a:lnTo>
                  <a:pt x="28178" y="101600"/>
                </a:lnTo>
                <a:cubicBezTo>
                  <a:pt x="26511" y="101600"/>
                  <a:pt x="24884" y="102275"/>
                  <a:pt x="23693" y="103465"/>
                </a:cubicBezTo>
                <a:lnTo>
                  <a:pt x="4643" y="122515"/>
                </a:lnTo>
                <a:cubicBezTo>
                  <a:pt x="2183" y="124976"/>
                  <a:pt x="2183" y="129024"/>
                  <a:pt x="4643" y="131485"/>
                </a:cubicBezTo>
                <a:lnTo>
                  <a:pt x="23693" y="150535"/>
                </a:lnTo>
                <a:cubicBezTo>
                  <a:pt x="24884" y="151725"/>
                  <a:pt x="26511" y="152400"/>
                  <a:pt x="28178" y="152400"/>
                </a:cubicBezTo>
                <a:lnTo>
                  <a:pt x="89059" y="152400"/>
                </a:lnTo>
                <a:lnTo>
                  <a:pt x="89059" y="190500"/>
                </a:lnTo>
                <a:cubicBezTo>
                  <a:pt x="89059" y="197525"/>
                  <a:pt x="94734" y="203200"/>
                  <a:pt x="101759" y="203200"/>
                </a:cubicBezTo>
                <a:cubicBezTo>
                  <a:pt x="108783" y="203200"/>
                  <a:pt x="114459" y="197525"/>
                  <a:pt x="114459" y="190500"/>
                </a:cubicBezTo>
                <a:lnTo>
                  <a:pt x="114459" y="152400"/>
                </a:lnTo>
                <a:lnTo>
                  <a:pt x="177959" y="152400"/>
                </a:lnTo>
                <a:cubicBezTo>
                  <a:pt x="184983" y="152400"/>
                  <a:pt x="190659" y="146725"/>
                  <a:pt x="190659" y="139700"/>
                </a:cubicBezTo>
                <a:lnTo>
                  <a:pt x="190659" y="114300"/>
                </a:lnTo>
                <a:cubicBezTo>
                  <a:pt x="190659" y="107275"/>
                  <a:pt x="184983" y="101600"/>
                  <a:pt x="177959" y="101600"/>
                </a:cubicBezTo>
                <a:lnTo>
                  <a:pt x="114459" y="101600"/>
                </a:lnTo>
                <a:lnTo>
                  <a:pt x="114459" y="76200"/>
                </a:lnTo>
                <a:lnTo>
                  <a:pt x="175339" y="76200"/>
                </a:lnTo>
                <a:cubicBezTo>
                  <a:pt x="177006" y="76200"/>
                  <a:pt x="178633" y="75525"/>
                  <a:pt x="179824" y="74335"/>
                </a:cubicBezTo>
                <a:lnTo>
                  <a:pt x="198874" y="55285"/>
                </a:lnTo>
                <a:cubicBezTo>
                  <a:pt x="201335" y="52824"/>
                  <a:pt x="201335" y="48776"/>
                  <a:pt x="198874" y="46315"/>
                </a:cubicBezTo>
                <a:lnTo>
                  <a:pt x="179824" y="27265"/>
                </a:lnTo>
                <a:cubicBezTo>
                  <a:pt x="178633" y="26075"/>
                  <a:pt x="177006" y="25400"/>
                  <a:pt x="175339" y="25400"/>
                </a:cubicBezTo>
                <a:lnTo>
                  <a:pt x="114459" y="25400"/>
                </a:lnTo>
                <a:lnTo>
                  <a:pt x="114459" y="12700"/>
                </a:lnTo>
                <a:cubicBezTo>
                  <a:pt x="114459" y="5675"/>
                  <a:pt x="108783" y="0"/>
                  <a:pt x="101759" y="0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3" name="Text 31"/>
          <p:cNvSpPr/>
          <p:nvPr/>
        </p:nvSpPr>
        <p:spPr>
          <a:xfrm>
            <a:off x="1066800" y="8178800"/>
            <a:ext cx="127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BeatMapper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1200" y="8585200"/>
            <a:ext cx="416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Converts blink timestamps to BPM/tempo events with smoothing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20680" y="8026400"/>
            <a:ext cx="4406900" cy="1219200"/>
          </a:xfrm>
          <a:custGeom>
            <a:avLst/>
            <a:gdLst/>
            <a:ahLst/>
            <a:cxnLst/>
            <a:rect l="l" t="t" r="r" b="b"/>
            <a:pathLst>
              <a:path w="4406900" h="1219200">
                <a:moveTo>
                  <a:pt x="50800" y="0"/>
                </a:moveTo>
                <a:lnTo>
                  <a:pt x="4305300" y="0"/>
                </a:lnTo>
                <a:cubicBezTo>
                  <a:pt x="4361375" y="0"/>
                  <a:pt x="4406900" y="45525"/>
                  <a:pt x="4406900" y="101600"/>
                </a:cubicBezTo>
                <a:lnTo>
                  <a:pt x="4406900" y="1117600"/>
                </a:lnTo>
                <a:cubicBezTo>
                  <a:pt x="4406900" y="1173675"/>
                  <a:pt x="4361375" y="1219200"/>
                  <a:pt x="4305300" y="1219200"/>
                </a:cubicBez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20680" y="80264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37" name="Shape 35"/>
          <p:cNvSpPr/>
          <p:nvPr/>
        </p:nvSpPr>
        <p:spPr>
          <a:xfrm>
            <a:off x="5336580" y="8229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50800" y="-12700"/>
                </a:moveTo>
                <a:cubicBezTo>
                  <a:pt x="57825" y="-12700"/>
                  <a:pt x="63500" y="-7025"/>
                  <a:pt x="63500" y="0"/>
                </a:cubicBezTo>
                <a:lnTo>
                  <a:pt x="63500" y="38100"/>
                </a:lnTo>
                <a:lnTo>
                  <a:pt x="114300" y="38100"/>
                </a:lnTo>
                <a:lnTo>
                  <a:pt x="114300" y="0"/>
                </a:lnTo>
                <a:cubicBezTo>
                  <a:pt x="114300" y="-7025"/>
                  <a:pt x="119975" y="-12700"/>
                  <a:pt x="127000" y="-12700"/>
                </a:cubicBezTo>
                <a:cubicBezTo>
                  <a:pt x="134025" y="-12700"/>
                  <a:pt x="139700" y="-7025"/>
                  <a:pt x="139700" y="0"/>
                </a:cubicBezTo>
                <a:lnTo>
                  <a:pt x="139700" y="38100"/>
                </a:ln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cubicBezTo>
                  <a:pt x="177800" y="57825"/>
                  <a:pt x="172125" y="63500"/>
                  <a:pt x="165100" y="63500"/>
                </a:cubicBezTo>
                <a:lnTo>
                  <a:pt x="165100" y="88900"/>
                </a:lnTo>
                <a:cubicBezTo>
                  <a:pt x="165100" y="126643"/>
                  <a:pt x="137636" y="157996"/>
                  <a:pt x="101600" y="164028"/>
                </a:cubicBezTo>
                <a:lnTo>
                  <a:pt x="101600" y="190500"/>
                </a:lnTo>
                <a:cubicBezTo>
                  <a:pt x="101600" y="197525"/>
                  <a:pt x="95925" y="203200"/>
                  <a:pt x="88900" y="203200"/>
                </a:cubicBezTo>
                <a:cubicBezTo>
                  <a:pt x="81875" y="203200"/>
                  <a:pt x="76200" y="197525"/>
                  <a:pt x="76200" y="190500"/>
                </a:cubicBezTo>
                <a:lnTo>
                  <a:pt x="76200" y="164028"/>
                </a:lnTo>
                <a:cubicBezTo>
                  <a:pt x="40164" y="157996"/>
                  <a:pt x="12700" y="126643"/>
                  <a:pt x="12700" y="88900"/>
                </a:cubicBezTo>
                <a:lnTo>
                  <a:pt x="12700" y="63500"/>
                </a:lnTo>
                <a:cubicBezTo>
                  <a:pt x="5675" y="63500"/>
                  <a:pt x="0" y="57825"/>
                  <a:pt x="0" y="50800"/>
                </a:cubicBezTo>
                <a:cubicBezTo>
                  <a:pt x="0" y="43775"/>
                  <a:pt x="5675" y="38100"/>
                  <a:pt x="12700" y="38100"/>
                </a:cubicBezTo>
                <a:lnTo>
                  <a:pt x="38100" y="38100"/>
                </a:lnTo>
                <a:lnTo>
                  <a:pt x="38100" y="0"/>
                </a:lnTo>
                <a:cubicBezTo>
                  <a:pt x="38100" y="-7025"/>
                  <a:pt x="43775" y="-12700"/>
                  <a:pt x="50800" y="-1270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38" name="Text 36"/>
          <p:cNvSpPr/>
          <p:nvPr/>
        </p:nvSpPr>
        <p:spPr>
          <a:xfrm>
            <a:off x="5654080" y="8178800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MidiOutput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98480" y="8585200"/>
            <a:ext cx="416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Sends tempo changes via Web MIDI API to NTCC Music App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733359" y="1676400"/>
            <a:ext cx="6019800" cy="6451600"/>
          </a:xfrm>
          <a:prstGeom prst="roundRect">
            <a:avLst>
              <a:gd name="adj" fmla="val 1688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936559" y="1879600"/>
            <a:ext cx="572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Options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936559" y="2387600"/>
            <a:ext cx="5613400" cy="1879600"/>
          </a:xfrm>
          <a:prstGeom prst="roundRect">
            <a:avLst>
              <a:gd name="adj" fmla="val 5405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088959" y="2540000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MediaPipe Options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088959" y="2946400"/>
            <a:ext cx="113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earThreshold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5032236" y="2946400"/>
            <a:ext cx="44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088959" y="32512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consecutiveFrames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5287427" y="32512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88959" y="35560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cameraWidth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5067756" y="3556000"/>
            <a:ext cx="41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640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088959" y="38608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cameraHeight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5064978" y="3860800"/>
            <a:ext cx="41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480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936559" y="4368800"/>
            <a:ext cx="5613400" cy="1879600"/>
          </a:xfrm>
          <a:prstGeom prst="roundRect">
            <a:avLst>
              <a:gd name="adj" fmla="val 5405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088959" y="4521200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Options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088959" y="4927600"/>
            <a:ext cx="205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minDetectionConfidence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5135622" y="4927600"/>
            <a:ext cx="34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088959" y="5232400"/>
            <a:ext cx="196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minTrackingConfidence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5135622" y="5232400"/>
            <a:ext cx="34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088959" y="553720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refineLandmarks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5078472" y="5537200"/>
            <a:ext cx="40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088959" y="5842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maxNumFaces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5321161" y="5842000"/>
            <a:ext cx="16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936559" y="6350000"/>
            <a:ext cx="5613400" cy="1574800"/>
          </a:xfrm>
          <a:prstGeom prst="roundRect">
            <a:avLst>
              <a:gd name="adj" fmla="val 6452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088959" y="6502400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Options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088959" y="69088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midiOutputEnabled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5078472" y="6908800"/>
            <a:ext cx="40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088959" y="7213600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smoothingFactor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5128875" y="7213600"/>
            <a:ext cx="35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088959" y="75184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debugMode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5014377" y="7518400"/>
            <a:ext cx="46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false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758759" y="8280400"/>
            <a:ext cx="5994400" cy="1778000"/>
          </a:xfrm>
          <a:custGeom>
            <a:avLst/>
            <a:gdLst/>
            <a:ahLst/>
            <a:cxnLst/>
            <a:rect l="l" t="t" r="r" b="b"/>
            <a:pathLst>
              <a:path w="5994400" h="1778000">
                <a:moveTo>
                  <a:pt x="0" y="0"/>
                </a:moveTo>
                <a:lnTo>
                  <a:pt x="5892800" y="0"/>
                </a:lnTo>
                <a:cubicBezTo>
                  <a:pt x="5948875" y="0"/>
                  <a:pt x="5994400" y="45525"/>
                  <a:pt x="5994400" y="101600"/>
                </a:cubicBezTo>
                <a:lnTo>
                  <a:pt x="5994400" y="1676400"/>
                </a:lnTo>
                <a:cubicBezTo>
                  <a:pt x="5994400" y="1732475"/>
                  <a:pt x="5948875" y="1778000"/>
                  <a:pt x="5892800" y="1778000"/>
                </a:cubicBezTo>
                <a:lnTo>
                  <a:pt x="0" y="17780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758759" y="8280400"/>
            <a:ext cx="50800" cy="17780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72" name="Text 70"/>
          <p:cNvSpPr/>
          <p:nvPr/>
        </p:nvSpPr>
        <p:spPr>
          <a:xfrm>
            <a:off x="9987359" y="8483600"/>
            <a:ext cx="567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987359" y="8940800"/>
            <a:ext cx="566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TypeScript typing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interfaces for landmarks, blink events, tempo changes, and MIDI messages. Compile-time error checking ensures robust integration.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 Cases &amp; Benefits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473200"/>
            <a:ext cx="1219200" cy="50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676400"/>
            <a:ext cx="7493000" cy="5892800"/>
          </a:xfrm>
          <a:custGeom>
            <a:avLst/>
            <a:gdLst/>
            <a:ahLst/>
            <a:cxnLst/>
            <a:rect l="l" t="t" r="r" b="b"/>
            <a:pathLst>
              <a:path w="7493000" h="5892800">
                <a:moveTo>
                  <a:pt x="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5791200"/>
                </a:lnTo>
                <a:cubicBezTo>
                  <a:pt x="7493000" y="5847275"/>
                  <a:pt x="7447475" y="5892800"/>
                  <a:pt x="7391400" y="5892800"/>
                </a:cubicBezTo>
                <a:lnTo>
                  <a:pt x="0" y="58928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5892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7" name="Shape 5"/>
          <p:cNvSpPr/>
          <p:nvPr/>
        </p:nvSpPr>
        <p:spPr>
          <a:xfrm>
            <a:off x="793750" y="1930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1879600"/>
            <a:ext cx="687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Use Cases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387600"/>
            <a:ext cx="7061200" cy="1168400"/>
          </a:xfrm>
          <a:prstGeom prst="roundRect">
            <a:avLst>
              <a:gd name="adj" fmla="val 869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5400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24744" y="2641600"/>
            <a:ext cx="19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74800" y="2540000"/>
            <a:ext cx="619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Conductor-Driven Tempo Sync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74800" y="2895600"/>
            <a:ext cx="6184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Worship bands follow conductor's natural tempo without rigid click tracks, enabling expressive performance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657600"/>
            <a:ext cx="7061200" cy="1168400"/>
          </a:xfrm>
          <a:prstGeom prst="roundRect">
            <a:avLst>
              <a:gd name="adj" fmla="val 869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8100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06488" y="39116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74800" y="3810000"/>
            <a:ext cx="619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 Section Transitions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74800" y="4165600"/>
            <a:ext cx="6184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detection of verse/chorus/bridge changes via blink patterns and tempo variations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927600"/>
            <a:ext cx="7061200" cy="1168400"/>
          </a:xfrm>
          <a:prstGeom prst="roundRect">
            <a:avLst>
              <a:gd name="adj" fmla="val 869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0800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05495" y="51816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74800" y="5080000"/>
            <a:ext cx="619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Spontaneous Worship Support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74800" y="5435600"/>
            <a:ext cx="6184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adapts to unplanned tempo changes during prayer, worship, or prophetic moments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197600"/>
            <a:ext cx="7061200" cy="1168400"/>
          </a:xfrm>
          <a:prstGeom prst="roundRect">
            <a:avLst>
              <a:gd name="adj" fmla="val 8696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63500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E6F0F3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05694" y="64516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74800" y="6350000"/>
            <a:ext cx="619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 for Hearing-Impaired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74800" y="6705600"/>
            <a:ext cx="6184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beat detection enables musicians with hearing loss to follow conductor cues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55000" y="1676400"/>
            <a:ext cx="7493000" cy="4114800"/>
          </a:xfrm>
          <a:custGeom>
            <a:avLst/>
            <a:gdLst/>
            <a:ahLst/>
            <a:cxnLst/>
            <a:rect l="l" t="t" r="r" b="b"/>
            <a:pathLst>
              <a:path w="7493000" h="4114800">
                <a:moveTo>
                  <a:pt x="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4013200"/>
                </a:lnTo>
                <a:cubicBezTo>
                  <a:pt x="7493000" y="4069275"/>
                  <a:pt x="7447475" y="4114800"/>
                  <a:pt x="7391400" y="4114800"/>
                </a:cubicBez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255000" y="1676400"/>
            <a:ext cx="50800" cy="4114800"/>
          </a:xfrm>
          <a:prstGeom prst="roundRect">
            <a:avLst>
              <a:gd name="adj" fmla="val 0"/>
            </a:avLst>
          </a:prstGeom>
          <a:solidFill>
            <a:srgbClr val="A9B4C2"/>
          </a:solidFill>
          <a:ln/>
        </p:spPr>
      </p:sp>
      <p:sp>
        <p:nvSpPr>
          <p:cNvPr id="31" name="Shape 29"/>
          <p:cNvSpPr/>
          <p:nvPr/>
        </p:nvSpPr>
        <p:spPr>
          <a:xfrm>
            <a:off x="8499475" y="1930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3541" y="-9376"/>
                </a:moveTo>
                <a:cubicBezTo>
                  <a:pt x="151507" y="-13345"/>
                  <a:pt x="147389" y="-15875"/>
                  <a:pt x="142925" y="-15875"/>
                </a:cubicBezTo>
                <a:cubicBezTo>
                  <a:pt x="138460" y="-15875"/>
                  <a:pt x="134342" y="-13345"/>
                  <a:pt x="132308" y="-9376"/>
                </a:cubicBezTo>
                <a:lnTo>
                  <a:pt x="95796" y="62161"/>
                </a:lnTo>
                <a:lnTo>
                  <a:pt x="16470" y="74761"/>
                </a:lnTo>
                <a:cubicBezTo>
                  <a:pt x="12055" y="75456"/>
                  <a:pt x="8384" y="78581"/>
                  <a:pt x="6995" y="82848"/>
                </a:cubicBezTo>
                <a:cubicBezTo>
                  <a:pt x="5606" y="87114"/>
                  <a:pt x="6747" y="91777"/>
                  <a:pt x="9872" y="94952"/>
                </a:cubicBezTo>
                <a:lnTo>
                  <a:pt x="66625" y="151755"/>
                </a:lnTo>
                <a:lnTo>
                  <a:pt x="54124" y="231080"/>
                </a:lnTo>
                <a:cubicBezTo>
                  <a:pt x="53429" y="235496"/>
                  <a:pt x="55265" y="239961"/>
                  <a:pt x="58886" y="242590"/>
                </a:cubicBezTo>
                <a:cubicBezTo>
                  <a:pt x="62508" y="245219"/>
                  <a:pt x="67270" y="245616"/>
                  <a:pt x="71289" y="243582"/>
                </a:cubicBezTo>
                <a:lnTo>
                  <a:pt x="142925" y="207169"/>
                </a:lnTo>
                <a:lnTo>
                  <a:pt x="214511" y="243582"/>
                </a:lnTo>
                <a:cubicBezTo>
                  <a:pt x="218480" y="245616"/>
                  <a:pt x="223292" y="245219"/>
                  <a:pt x="226913" y="242590"/>
                </a:cubicBezTo>
                <a:cubicBezTo>
                  <a:pt x="230535" y="239961"/>
                  <a:pt x="232370" y="235545"/>
                  <a:pt x="231676" y="231080"/>
                </a:cubicBezTo>
                <a:lnTo>
                  <a:pt x="219125" y="151755"/>
                </a:lnTo>
                <a:lnTo>
                  <a:pt x="275878" y="94952"/>
                </a:lnTo>
                <a:cubicBezTo>
                  <a:pt x="279053" y="91777"/>
                  <a:pt x="280144" y="87114"/>
                  <a:pt x="278755" y="82848"/>
                </a:cubicBezTo>
                <a:cubicBezTo>
                  <a:pt x="277366" y="78581"/>
                  <a:pt x="273745" y="75456"/>
                  <a:pt x="269280" y="74761"/>
                </a:cubicBezTo>
                <a:lnTo>
                  <a:pt x="190004" y="62161"/>
                </a:lnTo>
                <a:lnTo>
                  <a:pt x="153541" y="-9376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32" name="Text 30"/>
          <p:cNvSpPr/>
          <p:nvPr/>
        </p:nvSpPr>
        <p:spPr>
          <a:xfrm>
            <a:off x="8801100" y="1879600"/>
            <a:ext cx="687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9000" y="2438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4" name="Text 32"/>
          <p:cNvSpPr/>
          <p:nvPr/>
        </p:nvSpPr>
        <p:spPr>
          <a:xfrm>
            <a:off x="8839200" y="2387600"/>
            <a:ext cx="554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Conducting Preserved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39200" y="2692400"/>
            <a:ext cx="553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Conductor maintains authentic style without technological constraints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09000" y="3098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37" name="Text 35"/>
          <p:cNvSpPr/>
          <p:nvPr/>
        </p:nvSpPr>
        <p:spPr>
          <a:xfrm>
            <a:off x="8839200" y="304800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Cognitive Load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39200" y="3352800"/>
            <a:ext cx="494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Musicians focus on performance, not monitoring multiple cues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09000" y="37592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0" name="Text 38"/>
          <p:cNvSpPr/>
          <p:nvPr/>
        </p:nvSpPr>
        <p:spPr>
          <a:xfrm>
            <a:off x="8839200" y="37084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Worship Flow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39200" y="4013200"/>
            <a:ext cx="4902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 transitions create uninterrupted worship experience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09000" y="441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3" name="Text 41"/>
          <p:cNvSpPr/>
          <p:nvPr/>
        </p:nvSpPr>
        <p:spPr>
          <a:xfrm>
            <a:off x="8839200" y="43688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Band Cohesion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39200" y="4673600"/>
            <a:ext cx="384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musicians synchronized to conductor's intent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09000" y="5080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6" name="Text 44"/>
          <p:cNvSpPr/>
          <p:nvPr/>
        </p:nvSpPr>
        <p:spPr>
          <a:xfrm>
            <a:off x="8839200" y="5029200"/>
            <a:ext cx="556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Flexible Worship Styles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39200" y="5334000"/>
            <a:ext cx="554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Supports both traditional hymn conducting and contemporary worship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29600" y="5943600"/>
            <a:ext cx="7518400" cy="3022600"/>
          </a:xfrm>
          <a:prstGeom prst="roundRect">
            <a:avLst>
              <a:gd name="adj" fmla="val 3361"/>
            </a:avLst>
          </a:prstGeom>
          <a:solidFill>
            <a:srgbClr val="4A5462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432800" y="6146800"/>
            <a:ext cx="722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Advantages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32800" y="6654800"/>
            <a:ext cx="3505200" cy="1003300"/>
          </a:xfrm>
          <a:prstGeom prst="roundRect">
            <a:avLst>
              <a:gd name="adj" fmla="val 10127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052050" y="6756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52" name="Text 50"/>
          <p:cNvSpPr/>
          <p:nvPr/>
        </p:nvSpPr>
        <p:spPr>
          <a:xfrm>
            <a:off x="8489950" y="7112000"/>
            <a:ext cx="339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96300" y="7366000"/>
            <a:ext cx="337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&lt;100ms latency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2039600" y="6654800"/>
            <a:ext cx="3505200" cy="1003300"/>
          </a:xfrm>
          <a:prstGeom prst="roundRect">
            <a:avLst>
              <a:gd name="adj" fmla="val 10127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3639800" y="675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56" name="Text 54"/>
          <p:cNvSpPr/>
          <p:nvPr/>
        </p:nvSpPr>
        <p:spPr>
          <a:xfrm>
            <a:off x="12096750" y="7112000"/>
            <a:ext cx="339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On-Device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2103100" y="7366000"/>
            <a:ext cx="337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cloud required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32800" y="7759700"/>
            <a:ext cx="3505200" cy="1003300"/>
          </a:xfrm>
          <a:prstGeom prst="roundRect">
            <a:avLst>
              <a:gd name="adj" fmla="val 10127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033000" y="7861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6145" y="5655"/>
                </a:moveTo>
                <a:cubicBezTo>
                  <a:pt x="117931" y="-3155"/>
                  <a:pt x="125730" y="-9525"/>
                  <a:pt x="134779" y="-9525"/>
                </a:cubicBezTo>
                <a:lnTo>
                  <a:pt x="170378" y="-9525"/>
                </a:lnTo>
                <a:cubicBezTo>
                  <a:pt x="179427" y="-9525"/>
                  <a:pt x="187226" y="-3155"/>
                  <a:pt x="189012" y="5655"/>
                </a:cubicBezTo>
                <a:lnTo>
                  <a:pt x="197644" y="47327"/>
                </a:lnTo>
                <a:cubicBezTo>
                  <a:pt x="206038" y="50899"/>
                  <a:pt x="213896" y="55483"/>
                  <a:pt x="221040" y="60900"/>
                </a:cubicBezTo>
                <a:lnTo>
                  <a:pt x="261402" y="47506"/>
                </a:lnTo>
                <a:cubicBezTo>
                  <a:pt x="269974" y="44648"/>
                  <a:pt x="279380" y="48220"/>
                  <a:pt x="283905" y="56078"/>
                </a:cubicBezTo>
                <a:lnTo>
                  <a:pt x="301704" y="86916"/>
                </a:lnTo>
                <a:cubicBezTo>
                  <a:pt x="306229" y="94774"/>
                  <a:pt x="304621" y="104656"/>
                  <a:pt x="297835" y="110669"/>
                </a:cubicBezTo>
                <a:lnTo>
                  <a:pt x="266105" y="138886"/>
                </a:lnTo>
                <a:cubicBezTo>
                  <a:pt x="266640" y="143292"/>
                  <a:pt x="266879" y="147816"/>
                  <a:pt x="266879" y="152400"/>
                </a:cubicBezTo>
                <a:cubicBezTo>
                  <a:pt x="266879" y="156984"/>
                  <a:pt x="266581" y="161508"/>
                  <a:pt x="266105" y="165914"/>
                </a:cubicBezTo>
                <a:lnTo>
                  <a:pt x="297894" y="194191"/>
                </a:lnTo>
                <a:cubicBezTo>
                  <a:pt x="304681" y="200204"/>
                  <a:pt x="306229" y="210145"/>
                  <a:pt x="301764" y="217944"/>
                </a:cubicBezTo>
                <a:lnTo>
                  <a:pt x="283964" y="248781"/>
                </a:lnTo>
                <a:cubicBezTo>
                  <a:pt x="279440" y="256580"/>
                  <a:pt x="270034" y="260211"/>
                  <a:pt x="261461" y="257354"/>
                </a:cubicBezTo>
                <a:lnTo>
                  <a:pt x="221099" y="243959"/>
                </a:lnTo>
                <a:cubicBezTo>
                  <a:pt x="213896" y="249376"/>
                  <a:pt x="206038" y="253901"/>
                  <a:pt x="197703" y="257532"/>
                </a:cubicBezTo>
                <a:lnTo>
                  <a:pt x="189131" y="299145"/>
                </a:lnTo>
                <a:cubicBezTo>
                  <a:pt x="187285" y="308015"/>
                  <a:pt x="179487" y="314325"/>
                  <a:pt x="170497" y="314325"/>
                </a:cubicBezTo>
                <a:lnTo>
                  <a:pt x="134898" y="314325"/>
                </a:lnTo>
                <a:cubicBezTo>
                  <a:pt x="125849" y="314325"/>
                  <a:pt x="118050" y="307955"/>
                  <a:pt x="116265" y="299145"/>
                </a:cubicBezTo>
                <a:lnTo>
                  <a:pt x="107692" y="257532"/>
                </a:lnTo>
                <a:cubicBezTo>
                  <a:pt x="99298" y="253960"/>
                  <a:pt x="91500" y="249376"/>
                  <a:pt x="84296" y="243959"/>
                </a:cubicBezTo>
                <a:lnTo>
                  <a:pt x="43755" y="257354"/>
                </a:lnTo>
                <a:cubicBezTo>
                  <a:pt x="35183" y="260211"/>
                  <a:pt x="25777" y="256639"/>
                  <a:pt x="21253" y="248781"/>
                </a:cubicBezTo>
                <a:lnTo>
                  <a:pt x="3453" y="217944"/>
                </a:lnTo>
                <a:cubicBezTo>
                  <a:pt x="-1072" y="210086"/>
                  <a:pt x="536" y="200204"/>
                  <a:pt x="7322" y="194191"/>
                </a:cubicBezTo>
                <a:lnTo>
                  <a:pt x="39112" y="165914"/>
                </a:lnTo>
                <a:cubicBezTo>
                  <a:pt x="38576" y="161508"/>
                  <a:pt x="38338" y="156984"/>
                  <a:pt x="38338" y="152400"/>
                </a:cubicBezTo>
                <a:cubicBezTo>
                  <a:pt x="38338" y="147816"/>
                  <a:pt x="38636" y="143292"/>
                  <a:pt x="39112" y="138886"/>
                </a:cubicBezTo>
                <a:lnTo>
                  <a:pt x="7322" y="110609"/>
                </a:lnTo>
                <a:cubicBezTo>
                  <a:pt x="536" y="104596"/>
                  <a:pt x="-1012" y="94655"/>
                  <a:pt x="3453" y="86856"/>
                </a:cubicBezTo>
                <a:lnTo>
                  <a:pt x="21253" y="56019"/>
                </a:lnTo>
                <a:cubicBezTo>
                  <a:pt x="25777" y="48161"/>
                  <a:pt x="35183" y="44589"/>
                  <a:pt x="43755" y="47446"/>
                </a:cubicBezTo>
                <a:lnTo>
                  <a:pt x="84118" y="60841"/>
                </a:lnTo>
                <a:cubicBezTo>
                  <a:pt x="91321" y="55424"/>
                  <a:pt x="99179" y="50899"/>
                  <a:pt x="107513" y="47268"/>
                </a:cubicBezTo>
                <a:lnTo>
                  <a:pt x="116145" y="5655"/>
                </a:lnTo>
                <a:close/>
                <a:moveTo>
                  <a:pt x="152579" y="200025"/>
                </a:moveTo>
                <a:cubicBezTo>
                  <a:pt x="169593" y="199961"/>
                  <a:pt x="185282" y="190825"/>
                  <a:pt x="193734" y="176058"/>
                </a:cubicBezTo>
                <a:cubicBezTo>
                  <a:pt x="202186" y="161291"/>
                  <a:pt x="202118" y="143136"/>
                  <a:pt x="193555" y="128433"/>
                </a:cubicBezTo>
                <a:cubicBezTo>
                  <a:pt x="184993" y="113730"/>
                  <a:pt x="169236" y="104711"/>
                  <a:pt x="152221" y="104775"/>
                </a:cubicBezTo>
                <a:cubicBezTo>
                  <a:pt x="135207" y="104839"/>
                  <a:pt x="119518" y="113975"/>
                  <a:pt x="111066" y="128742"/>
                </a:cubicBezTo>
                <a:cubicBezTo>
                  <a:pt x="102614" y="143509"/>
                  <a:pt x="102682" y="161664"/>
                  <a:pt x="111245" y="176367"/>
                </a:cubicBezTo>
                <a:cubicBezTo>
                  <a:pt x="119807" y="191070"/>
                  <a:pt x="135564" y="200089"/>
                  <a:pt x="152579" y="200025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60" name="Text 58"/>
          <p:cNvSpPr/>
          <p:nvPr/>
        </p:nvSpPr>
        <p:spPr>
          <a:xfrm>
            <a:off x="8489950" y="8216900"/>
            <a:ext cx="339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Configurable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96300" y="8470900"/>
            <a:ext cx="337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thresholds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039600" y="7759700"/>
            <a:ext cx="3505200" cy="1003300"/>
          </a:xfrm>
          <a:prstGeom prst="roundRect">
            <a:avLst>
              <a:gd name="adj" fmla="val 10127"/>
            </a:avLst>
          </a:prstGeom>
          <a:solidFill>
            <a:srgbClr val="1A1D21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3658850" y="78613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95250"/>
                </a:lnTo>
                <a:cubicBezTo>
                  <a:pt x="0" y="105787"/>
                  <a:pt x="8513" y="114300"/>
                  <a:pt x="19050" y="114300"/>
                </a:cubicBezTo>
                <a:cubicBezTo>
                  <a:pt x="29587" y="114300"/>
                  <a:pt x="38100" y="105787"/>
                  <a:pt x="38100" y="95250"/>
                </a:cubicBezTo>
                <a:lnTo>
                  <a:pt x="38100" y="57150"/>
                </a:lnTo>
                <a:lnTo>
                  <a:pt x="76200" y="57150"/>
                </a:lnTo>
                <a:cubicBezTo>
                  <a:pt x="86737" y="57150"/>
                  <a:pt x="95250" y="48637"/>
                  <a:pt x="95250" y="38100"/>
                </a:cubicBezTo>
                <a:cubicBezTo>
                  <a:pt x="95250" y="27563"/>
                  <a:pt x="86737" y="19050"/>
                  <a:pt x="76200" y="19050"/>
                </a:cubicBezTo>
                <a:lnTo>
                  <a:pt x="19050" y="19050"/>
                </a:lnTo>
                <a:close/>
                <a:moveTo>
                  <a:pt x="38100" y="209550"/>
                </a:moveTo>
                <a:cubicBezTo>
                  <a:pt x="38100" y="199013"/>
                  <a:pt x="29587" y="190500"/>
                  <a:pt x="19050" y="190500"/>
                </a:cubicBezTo>
                <a:cubicBezTo>
                  <a:pt x="8513" y="190500"/>
                  <a:pt x="0" y="199013"/>
                  <a:pt x="0" y="209550"/>
                </a:cubicBezTo>
                <a:lnTo>
                  <a:pt x="0" y="266700"/>
                </a:lnTo>
                <a:cubicBezTo>
                  <a:pt x="0" y="277237"/>
                  <a:pt x="8513" y="285750"/>
                  <a:pt x="19050" y="285750"/>
                </a:cubicBezTo>
                <a:lnTo>
                  <a:pt x="76200" y="285750"/>
                </a:lnTo>
                <a:cubicBezTo>
                  <a:pt x="86737" y="285750"/>
                  <a:pt x="95250" y="277237"/>
                  <a:pt x="95250" y="266700"/>
                </a:cubicBezTo>
                <a:cubicBezTo>
                  <a:pt x="95250" y="256163"/>
                  <a:pt x="86737" y="247650"/>
                  <a:pt x="76200" y="247650"/>
                </a:cubicBezTo>
                <a:lnTo>
                  <a:pt x="38100" y="247650"/>
                </a:lnTo>
                <a:lnTo>
                  <a:pt x="38100" y="209550"/>
                </a:lnTo>
                <a:close/>
                <a:moveTo>
                  <a:pt x="190500" y="19050"/>
                </a:moveTo>
                <a:cubicBezTo>
                  <a:pt x="179963" y="19050"/>
                  <a:pt x="171450" y="27563"/>
                  <a:pt x="171450" y="38100"/>
                </a:cubicBezTo>
                <a:cubicBezTo>
                  <a:pt x="171450" y="48637"/>
                  <a:pt x="179963" y="57150"/>
                  <a:pt x="190500" y="57150"/>
                </a:cubicBezTo>
                <a:lnTo>
                  <a:pt x="228600" y="57150"/>
                </a:lnTo>
                <a:lnTo>
                  <a:pt x="228600" y="95250"/>
                </a:lnTo>
                <a:cubicBezTo>
                  <a:pt x="228600" y="105787"/>
                  <a:pt x="237113" y="114300"/>
                  <a:pt x="247650" y="114300"/>
                </a:cubicBezTo>
                <a:cubicBezTo>
                  <a:pt x="258187" y="114300"/>
                  <a:pt x="266700" y="105787"/>
                  <a:pt x="266700" y="95250"/>
                </a:cubicBezTo>
                <a:lnTo>
                  <a:pt x="266700" y="38100"/>
                </a:lnTo>
                <a:cubicBezTo>
                  <a:pt x="266700" y="27563"/>
                  <a:pt x="258187" y="19050"/>
                  <a:pt x="247650" y="19050"/>
                </a:cubicBezTo>
                <a:lnTo>
                  <a:pt x="190500" y="19050"/>
                </a:lnTo>
                <a:close/>
                <a:moveTo>
                  <a:pt x="266700" y="209550"/>
                </a:moveTo>
                <a:cubicBezTo>
                  <a:pt x="266700" y="199013"/>
                  <a:pt x="258187" y="190500"/>
                  <a:pt x="247650" y="190500"/>
                </a:cubicBezTo>
                <a:cubicBezTo>
                  <a:pt x="237113" y="190500"/>
                  <a:pt x="228600" y="199013"/>
                  <a:pt x="228600" y="209550"/>
                </a:cubicBezTo>
                <a:lnTo>
                  <a:pt x="228600" y="247650"/>
                </a:lnTo>
                <a:lnTo>
                  <a:pt x="190500" y="247650"/>
                </a:lnTo>
                <a:cubicBezTo>
                  <a:pt x="179963" y="247650"/>
                  <a:pt x="171450" y="256163"/>
                  <a:pt x="171450" y="266700"/>
                </a:cubicBezTo>
                <a:cubicBezTo>
                  <a:pt x="171450" y="277237"/>
                  <a:pt x="179963" y="285750"/>
                  <a:pt x="190500" y="285750"/>
                </a:cubicBezTo>
                <a:lnTo>
                  <a:pt x="247650" y="285750"/>
                </a:lnTo>
                <a:cubicBezTo>
                  <a:pt x="258187" y="285750"/>
                  <a:pt x="266700" y="277237"/>
                  <a:pt x="266700" y="266700"/>
                </a:cubicBezTo>
                <a:lnTo>
                  <a:pt x="266700" y="209550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64" name="Text 62"/>
          <p:cNvSpPr/>
          <p:nvPr/>
        </p:nvSpPr>
        <p:spPr>
          <a:xfrm>
            <a:off x="12096750" y="8216900"/>
            <a:ext cx="339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2103100" y="8470900"/>
            <a:ext cx="337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Multi-platform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ac.digital/1d6a7db9e8a16ce7e01c1609b82e412eee881ee2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13" b="7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5462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8000" y="508000"/>
            <a:ext cx="101600" cy="812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609600"/>
            <a:ext cx="326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7 OF 9 COMPLETE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62000" y="965200"/>
            <a:ext cx="325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UnityMediaPipe.ts Delivered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15240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Next Steps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6E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3632200"/>
            <a:ext cx="2032000" cy="762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9" name="Shape 6"/>
          <p:cNvSpPr/>
          <p:nvPr/>
        </p:nvSpPr>
        <p:spPr>
          <a:xfrm>
            <a:off x="533400" y="4064000"/>
            <a:ext cx="7493000" cy="3098800"/>
          </a:xfrm>
          <a:custGeom>
            <a:avLst/>
            <a:gdLst/>
            <a:ahLst/>
            <a:cxnLst/>
            <a:rect l="l" t="t" r="r" b="b"/>
            <a:pathLst>
              <a:path w="7493000" h="3098800">
                <a:moveTo>
                  <a:pt x="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2997200"/>
                </a:lnTo>
                <a:cubicBezTo>
                  <a:pt x="7493000" y="3053275"/>
                  <a:pt x="7447475" y="3098800"/>
                  <a:pt x="7391400" y="3098800"/>
                </a:cubicBezTo>
                <a:lnTo>
                  <a:pt x="0" y="30988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33400" y="4064000"/>
            <a:ext cx="50800" cy="3098800"/>
          </a:xfrm>
          <a:prstGeom prst="roundRect">
            <a:avLst>
              <a:gd name="adj" fmla="val 0"/>
            </a:avLst>
          </a:prstGeom>
          <a:solidFill>
            <a:srgbClr val="E6F0F3"/>
          </a:solidFill>
          <a:ln/>
        </p:spPr>
      </p:sp>
      <p:sp>
        <p:nvSpPr>
          <p:cNvPr id="11" name="Shape 8"/>
          <p:cNvSpPr/>
          <p:nvPr/>
        </p:nvSpPr>
        <p:spPr>
          <a:xfrm>
            <a:off x="793750" y="431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12" name="Text 9"/>
          <p:cNvSpPr/>
          <p:nvPr/>
        </p:nvSpPr>
        <p:spPr>
          <a:xfrm>
            <a:off x="1079500" y="4267200"/>
            <a:ext cx="687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7 Deliverables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62000" y="4724400"/>
            <a:ext cx="716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UnityMediaPipe.ts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provides robust conductor beat detection via MediaPipe Face Mesh with: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8513" y="55245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5" name="Text 12"/>
          <p:cNvSpPr/>
          <p:nvPr/>
        </p:nvSpPr>
        <p:spPr>
          <a:xfrm>
            <a:off x="1085850" y="5486400"/>
            <a:ext cx="281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468 landmark real-time processing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98513" y="58293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7" name="Text 14"/>
          <p:cNvSpPr/>
          <p:nvPr/>
        </p:nvSpPr>
        <p:spPr>
          <a:xfrm>
            <a:off x="1085850" y="5791200"/>
            <a:ext cx="358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EAR-based blink detection (95.6% accuracy)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98513" y="61341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19" name="Text 16"/>
          <p:cNvSpPr/>
          <p:nvPr/>
        </p:nvSpPr>
        <p:spPr>
          <a:xfrm>
            <a:off x="1085850" y="6096000"/>
            <a:ext cx="288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&lt;100ms latency, 30 FPS processing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98513" y="6438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1" name="Text 18"/>
          <p:cNvSpPr/>
          <p:nvPr/>
        </p:nvSpPr>
        <p:spPr>
          <a:xfrm>
            <a:off x="1085850" y="6400800"/>
            <a:ext cx="26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TypeScript architecture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98513" y="67437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23" name="Text 20"/>
          <p:cNvSpPr/>
          <p:nvPr/>
        </p:nvSpPr>
        <p:spPr>
          <a:xfrm>
            <a:off x="1085850" y="6705600"/>
            <a:ext cx="278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MIDI integration for worship bands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255000" y="4064000"/>
            <a:ext cx="7493000" cy="3098800"/>
          </a:xfrm>
          <a:custGeom>
            <a:avLst/>
            <a:gdLst/>
            <a:ahLst/>
            <a:cxnLst/>
            <a:rect l="l" t="t" r="r" b="b"/>
            <a:pathLst>
              <a:path w="7493000" h="3098800">
                <a:moveTo>
                  <a:pt x="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2997200"/>
                </a:lnTo>
                <a:cubicBezTo>
                  <a:pt x="7493000" y="3053275"/>
                  <a:pt x="7447475" y="3098800"/>
                  <a:pt x="7391400" y="3098800"/>
                </a:cubicBezTo>
                <a:lnTo>
                  <a:pt x="0" y="3098800"/>
                </a:lnTo>
                <a:lnTo>
                  <a:pt x="0" y="0"/>
                </a:lnTo>
                <a:close/>
              </a:path>
            </a:pathLst>
          </a:custGeom>
          <a:solidFill>
            <a:srgbClr val="4A5462">
              <a:alpha val="30196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8255000" y="4064000"/>
            <a:ext cx="50800" cy="3098800"/>
          </a:xfrm>
          <a:prstGeom prst="roundRect">
            <a:avLst>
              <a:gd name="adj" fmla="val 0"/>
            </a:avLst>
          </a:prstGeom>
          <a:solidFill>
            <a:srgbClr val="A9B4C2"/>
          </a:solidFill>
          <a:ln/>
        </p:spPr>
      </p:sp>
      <p:sp>
        <p:nvSpPr>
          <p:cNvPr id="26" name="Shape 23"/>
          <p:cNvSpPr/>
          <p:nvPr/>
        </p:nvSpPr>
        <p:spPr>
          <a:xfrm>
            <a:off x="8515350" y="431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138212"/>
                </a:moveTo>
                <a:cubicBezTo>
                  <a:pt x="255538" y="132011"/>
                  <a:pt x="255538" y="121940"/>
                  <a:pt x="249337" y="115739"/>
                </a:cubicBezTo>
                <a:lnTo>
                  <a:pt x="169962" y="36364"/>
                </a:lnTo>
                <a:cubicBezTo>
                  <a:pt x="163761" y="30163"/>
                  <a:pt x="153690" y="30163"/>
                  <a:pt x="147489" y="36364"/>
                </a:cubicBezTo>
                <a:cubicBezTo>
                  <a:pt x="141288" y="42565"/>
                  <a:pt x="141288" y="52636"/>
                  <a:pt x="147489" y="58837"/>
                </a:cubicBezTo>
                <a:lnTo>
                  <a:pt x="199777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199777" y="142875"/>
                </a:lnTo>
                <a:lnTo>
                  <a:pt x="147489" y="195163"/>
                </a:lnTo>
                <a:cubicBezTo>
                  <a:pt x="141287" y="201364"/>
                  <a:pt x="141287" y="211435"/>
                  <a:pt x="147489" y="217636"/>
                </a:cubicBezTo>
                <a:cubicBezTo>
                  <a:pt x="153690" y="223838"/>
                  <a:pt x="163761" y="223838"/>
                  <a:pt x="169962" y="217636"/>
                </a:cubicBezTo>
                <a:lnTo>
                  <a:pt x="249337" y="138261"/>
                </a:ln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27" name="Text 24"/>
          <p:cNvSpPr/>
          <p:nvPr/>
        </p:nvSpPr>
        <p:spPr>
          <a:xfrm>
            <a:off x="8801100" y="4267200"/>
            <a:ext cx="687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Session (8 of 9)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483600" y="4724400"/>
            <a:ext cx="716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UnityConductor.ts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E0E6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Integration testing with NTCC Music App's MIDI system and worship workflow validation.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509000" y="5524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0" name="Text 27"/>
          <p:cNvSpPr/>
          <p:nvPr/>
        </p:nvSpPr>
        <p:spPr>
          <a:xfrm>
            <a:off x="8807450" y="548640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pipeline testing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509000" y="5829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2" name="Text 29"/>
          <p:cNvSpPr/>
          <p:nvPr/>
        </p:nvSpPr>
        <p:spPr>
          <a:xfrm>
            <a:off x="8807450" y="5791200"/>
            <a:ext cx="229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Worship scenario simulation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509000" y="61341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4" name="Text 31"/>
          <p:cNvSpPr/>
          <p:nvPr/>
        </p:nvSpPr>
        <p:spPr>
          <a:xfrm>
            <a:off x="8807450" y="6096000"/>
            <a:ext cx="210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509000" y="6438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6" name="Text 33"/>
          <p:cNvSpPr/>
          <p:nvPr/>
        </p:nvSpPr>
        <p:spPr>
          <a:xfrm>
            <a:off x="8807450" y="6400800"/>
            <a:ext cx="170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Calibration workflow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509000" y="6743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A9B4C2"/>
          </a:solidFill>
          <a:ln/>
        </p:spPr>
      </p:sp>
      <p:sp>
        <p:nvSpPr>
          <p:cNvPr id="38" name="Text 35"/>
          <p:cNvSpPr/>
          <p:nvPr/>
        </p:nvSpPr>
        <p:spPr>
          <a:xfrm>
            <a:off x="8807450" y="6705600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 &amp; deployment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08000" y="7524750"/>
            <a:ext cx="15240000" cy="12700"/>
          </a:xfrm>
          <a:prstGeom prst="roundRect">
            <a:avLst>
              <a:gd name="adj" fmla="val 0"/>
            </a:avLst>
          </a:prstGeom>
          <a:solidFill>
            <a:srgbClr val="A9B4C2">
              <a:alpha val="3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65150" y="7956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56295" y="343079"/>
                </a:moveTo>
                <a:cubicBezTo>
                  <a:pt x="336560" y="308789"/>
                  <a:pt x="299502" y="285750"/>
                  <a:pt x="257175" y="285750"/>
                </a:cubicBezTo>
                <a:lnTo>
                  <a:pt x="200025" y="285750"/>
                </a:lnTo>
                <a:cubicBezTo>
                  <a:pt x="157698" y="285750"/>
                  <a:pt x="120640" y="308789"/>
                  <a:pt x="100905" y="343079"/>
                </a:cubicBezTo>
                <a:cubicBezTo>
                  <a:pt x="132338" y="378083"/>
                  <a:pt x="177879" y="400050"/>
                  <a:pt x="228600" y="400050"/>
                </a:cubicBezTo>
                <a:cubicBezTo>
                  <a:pt x="279321" y="400050"/>
                  <a:pt x="324862" y="377994"/>
                  <a:pt x="356295" y="343079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242888"/>
                </a:moveTo>
                <a:cubicBezTo>
                  <a:pt x="264085" y="242888"/>
                  <a:pt x="292894" y="214078"/>
                  <a:pt x="292894" y="178594"/>
                </a:cubicBezTo>
                <a:cubicBezTo>
                  <a:pt x="292894" y="143109"/>
                  <a:pt x="264085" y="114300"/>
                  <a:pt x="228600" y="114300"/>
                </a:cubicBezTo>
                <a:cubicBezTo>
                  <a:pt x="193115" y="114300"/>
                  <a:pt x="164306" y="143109"/>
                  <a:pt x="164306" y="178594"/>
                </a:cubicBezTo>
                <a:cubicBezTo>
                  <a:pt x="164306" y="214078"/>
                  <a:pt x="193115" y="242888"/>
                  <a:pt x="228600" y="242888"/>
                </a:cubicBezTo>
                <a:close/>
              </a:path>
            </a:pathLst>
          </a:custGeom>
          <a:solidFill>
            <a:srgbClr val="E6F0F3"/>
          </a:solidFill>
          <a:ln/>
        </p:spPr>
      </p:sp>
      <p:sp>
        <p:nvSpPr>
          <p:cNvPr id="41" name="Text 38"/>
          <p:cNvSpPr/>
          <p:nvPr/>
        </p:nvSpPr>
        <p:spPr>
          <a:xfrm>
            <a:off x="1282700" y="7854950"/>
            <a:ext cx="433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6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Frederick Thomas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282700" y="8210550"/>
            <a:ext cx="430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Super Coding Ninja™ | SCN Technologies™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2965509" y="7734300"/>
            <a:ext cx="27813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2400" b="1" dirty="0">
                <a:solidFill>
                  <a:srgbClr val="E6F0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#FindAWay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3029009" y="8128000"/>
            <a:ext cx="271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NTCC Music App Unity Solution™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3029009" y="8382000"/>
            <a:ext cx="271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E0E6EB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2026.05.15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UnityMediaPipe.ts Technical Architecture</dc:title>
  <dc:subject>UnityMediaPipe.ts Technical Architecture</dc:subject>
  <dc:creator>Kimi</dc:creator>
  <cp:lastModifiedBy>Kimi</cp:lastModifiedBy>
  <cp:revision>1</cp:revision>
  <dcterms:created xsi:type="dcterms:W3CDTF">2026-05-31T20:26:28Z</dcterms:created>
  <dcterms:modified xsi:type="dcterms:W3CDTF">2026-05-31T20:26:28Z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{"Label":"UnityMediaPipe.ts Technical Architecture","ContentProducer":"001191110108MACG2KBH8F10000","ProduceID":"","ReservedCode1":"","ContentPropagator":"001191110108MACG2KBH8F20000","PropagateID":"","ReservedCode2":""}</vt:lpwstr>
  </property>
</Properties>
</file>